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60" r:id="rId5"/>
    <p:sldId id="261" r:id="rId6"/>
    <p:sldId id="262" r:id="rId7"/>
    <p:sldId id="263" r:id="rId8"/>
    <p:sldId id="264" r:id="rId9"/>
    <p:sldId id="269" r:id="rId10"/>
    <p:sldId id="271" r:id="rId11"/>
    <p:sldId id="272" r:id="rId12"/>
    <p:sldId id="273" r:id="rId13"/>
    <p:sldId id="274" r:id="rId14"/>
    <p:sldId id="270" r:id="rId15"/>
    <p:sldId id="266" r:id="rId16"/>
    <p:sldId id="267" r:id="rId17"/>
    <p:sldId id="268" r:id="rId18"/>
    <p:sldId id="259" r:id="rId19"/>
  </p:sldIdLst>
  <p:sldSz cx="12192000" cy="6858000"/>
  <p:notesSz cx="6858000" cy="9144000"/>
  <p:embeddedFontLst>
    <p:embeddedFont>
      <p:font typeface="Lato Black" panose="020F0502020204030203" pitchFamily="34" charset="0"/>
      <p:bold r:id="rId21"/>
    </p:embeddedFont>
    <p:embeddedFont>
      <p:font typeface="Libre Baskerville" panose="02000000000000000000" pitchFamily="2" charset="0"/>
      <p:regular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hOJMYRtMJHTmKh9+lTrbj+exko0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7F8E8D-7923-4203-963E-B74E8E8D49FD}" v="104" dt="2026-10-28T09:58:53.0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 divyasri" userId="13792de876a4d3ac" providerId="LiveId" clId="{AF162401-4151-4FAA-A5F2-64A4A60AD84F}"/>
    <pc:docChg chg="undo custSel addSld delSld modSld sldOrd">
      <pc:chgData name="c. divyasri" userId="13792de876a4d3ac" providerId="LiveId" clId="{AF162401-4151-4FAA-A5F2-64A4A60AD84F}" dt="2026-10-28T10:26:32.718" v="669" actId="27309"/>
      <pc:docMkLst>
        <pc:docMk/>
      </pc:docMkLst>
      <pc:sldChg chg="addSp delSp modSp mod modTransition">
        <pc:chgData name="c. divyasri" userId="13792de876a4d3ac" providerId="LiveId" clId="{AF162401-4151-4FAA-A5F2-64A4A60AD84F}" dt="2026-10-28T09:57:36.127" v="609"/>
        <pc:sldMkLst>
          <pc:docMk/>
          <pc:sldMk cId="0" sldId="256"/>
        </pc:sldMkLst>
        <pc:spChg chg="add del">
          <ac:chgData name="c. divyasri" userId="13792de876a4d3ac" providerId="LiveId" clId="{AF162401-4151-4FAA-A5F2-64A4A60AD84F}" dt="2026-10-28T07:40:05.965" v="320" actId="22"/>
          <ac:spMkLst>
            <pc:docMk/>
            <pc:sldMk cId="0" sldId="256"/>
            <ac:spMk id="3" creationId="{86D724D2-B211-DF2C-33BC-ACB38F7AE2FE}"/>
          </ac:spMkLst>
        </pc:spChg>
        <pc:spChg chg="mod">
          <ac:chgData name="c. divyasri" userId="13792de876a4d3ac" providerId="LiveId" clId="{AF162401-4151-4FAA-A5F2-64A4A60AD84F}" dt="2026-10-28T07:40:58.792" v="324" actId="1076"/>
          <ac:spMkLst>
            <pc:docMk/>
            <pc:sldMk cId="0" sldId="256"/>
            <ac:spMk id="99" creationId="{00000000-0000-0000-0000-000000000000}"/>
          </ac:spMkLst>
        </pc:spChg>
      </pc:sldChg>
      <pc:sldChg chg="addSp delSp modSp mod modTransition">
        <pc:chgData name="c. divyasri" userId="13792de876a4d3ac" providerId="LiveId" clId="{AF162401-4151-4FAA-A5F2-64A4A60AD84F}" dt="2026-10-28T09:07:44.257" v="571" actId="207"/>
        <pc:sldMkLst>
          <pc:docMk/>
          <pc:sldMk cId="0" sldId="257"/>
        </pc:sldMkLst>
        <pc:spChg chg="mod">
          <ac:chgData name="c. divyasri" userId="13792de876a4d3ac" providerId="LiveId" clId="{AF162401-4151-4FAA-A5F2-64A4A60AD84F}" dt="2026-10-28T07:51:02.230" v="435" actId="113"/>
          <ac:spMkLst>
            <pc:docMk/>
            <pc:sldMk cId="0" sldId="257"/>
            <ac:spMk id="104" creationId="{00000000-0000-0000-0000-000000000000}"/>
          </ac:spMkLst>
        </pc:spChg>
        <pc:spChg chg="mod">
          <ac:chgData name="c. divyasri" userId="13792de876a4d3ac" providerId="LiveId" clId="{AF162401-4151-4FAA-A5F2-64A4A60AD84F}" dt="2026-10-28T09:07:44.257" v="571" actId="207"/>
          <ac:spMkLst>
            <pc:docMk/>
            <pc:sldMk cId="0" sldId="257"/>
            <ac:spMk id="105" creationId="{00000000-0000-0000-0000-000000000000}"/>
          </ac:spMkLst>
        </pc:spChg>
        <pc:picChg chg="add del mod">
          <ac:chgData name="c. divyasri" userId="13792de876a4d3ac" providerId="LiveId" clId="{AF162401-4151-4FAA-A5F2-64A4A60AD84F}" dt="2026-10-28T07:49:00.030" v="410" actId="22"/>
          <ac:picMkLst>
            <pc:docMk/>
            <pc:sldMk cId="0" sldId="257"/>
            <ac:picMk id="3" creationId="{57E63678-6BDD-BBCC-D83E-87B3BD383688}"/>
          </ac:picMkLst>
        </pc:picChg>
      </pc:sldChg>
      <pc:sldChg chg="modTransition">
        <pc:chgData name="c. divyasri" userId="13792de876a4d3ac" providerId="LiveId" clId="{AF162401-4151-4FAA-A5F2-64A4A60AD84F}" dt="2026-10-28T09:57:40.228" v="610"/>
        <pc:sldMkLst>
          <pc:docMk/>
          <pc:sldMk cId="0" sldId="258"/>
        </pc:sldMkLst>
      </pc:sldChg>
      <pc:sldChg chg="modTransition">
        <pc:chgData name="c. divyasri" userId="13792de876a4d3ac" providerId="LiveId" clId="{AF162401-4151-4FAA-A5F2-64A4A60AD84F}" dt="2026-10-28T09:58:53.001" v="625"/>
        <pc:sldMkLst>
          <pc:docMk/>
          <pc:sldMk cId="0" sldId="259"/>
        </pc:sldMkLst>
      </pc:sldChg>
      <pc:sldChg chg="delSp modSp mod modTransition">
        <pc:chgData name="c. divyasri" userId="13792de876a4d3ac" providerId="LiveId" clId="{AF162401-4151-4FAA-A5F2-64A4A60AD84F}" dt="2026-10-28T09:57:44.717" v="611"/>
        <pc:sldMkLst>
          <pc:docMk/>
          <pc:sldMk cId="0" sldId="260"/>
        </pc:sldMkLst>
        <pc:spChg chg="mod">
          <ac:chgData name="c. divyasri" userId="13792de876a4d3ac" providerId="LiveId" clId="{AF162401-4151-4FAA-A5F2-64A4A60AD84F}" dt="2026-10-22T09:31:03.423" v="204" actId="1076"/>
          <ac:spMkLst>
            <pc:docMk/>
            <pc:sldMk cId="0" sldId="260"/>
            <ac:spMk id="11" creationId="{00000000-0000-0000-0000-000000000000}"/>
          </ac:spMkLst>
        </pc:spChg>
        <pc:spChg chg="mod">
          <ac:chgData name="c. divyasri" userId="13792de876a4d3ac" providerId="LiveId" clId="{AF162401-4151-4FAA-A5F2-64A4A60AD84F}" dt="2026-10-22T06:36:16.757" v="27" actId="1076"/>
          <ac:spMkLst>
            <pc:docMk/>
            <pc:sldMk cId="0" sldId="260"/>
            <ac:spMk id="13" creationId="{00000000-0000-0000-0000-000000000000}"/>
          </ac:spMkLst>
        </pc:spChg>
        <pc:spChg chg="mod">
          <ac:chgData name="c. divyasri" userId="13792de876a4d3ac" providerId="LiveId" clId="{AF162401-4151-4FAA-A5F2-64A4A60AD84F}" dt="2026-10-22T06:36:57.279" v="30" actId="1076"/>
          <ac:spMkLst>
            <pc:docMk/>
            <pc:sldMk cId="0" sldId="260"/>
            <ac:spMk id="14" creationId="{00000000-0000-0000-0000-000000000000}"/>
          </ac:spMkLst>
        </pc:spChg>
        <pc:spChg chg="mod">
          <ac:chgData name="c. divyasri" userId="13792de876a4d3ac" providerId="LiveId" clId="{AF162401-4151-4FAA-A5F2-64A4A60AD84F}" dt="2026-10-22T06:37:10.587" v="32" actId="20577"/>
          <ac:spMkLst>
            <pc:docMk/>
            <pc:sldMk cId="0" sldId="260"/>
            <ac:spMk id="15" creationId="{00000000-0000-0000-0000-000000000000}"/>
          </ac:spMkLst>
        </pc:spChg>
        <pc:spChg chg="mod">
          <ac:chgData name="c. divyasri" userId="13792de876a4d3ac" providerId="LiveId" clId="{AF162401-4151-4FAA-A5F2-64A4A60AD84F}" dt="2026-10-22T06:37:35.844" v="38" actId="1076"/>
          <ac:spMkLst>
            <pc:docMk/>
            <pc:sldMk cId="0" sldId="260"/>
            <ac:spMk id="18" creationId="{00000000-0000-0000-0000-000000000000}"/>
          </ac:spMkLst>
        </pc:spChg>
        <pc:spChg chg="mod">
          <ac:chgData name="c. divyasri" userId="13792de876a4d3ac" providerId="LiveId" clId="{AF162401-4151-4FAA-A5F2-64A4A60AD84F}" dt="2026-10-22T06:37:29.947" v="37" actId="20577"/>
          <ac:spMkLst>
            <pc:docMk/>
            <pc:sldMk cId="0" sldId="260"/>
            <ac:spMk id="19" creationId="{00000000-0000-0000-0000-000000000000}"/>
          </ac:spMkLst>
        </pc:spChg>
        <pc:spChg chg="mod">
          <ac:chgData name="c. divyasri" userId="13792de876a4d3ac" providerId="LiveId" clId="{AF162401-4151-4FAA-A5F2-64A4A60AD84F}" dt="2026-10-22T06:37:47.342" v="39" actId="1076"/>
          <ac:spMkLst>
            <pc:docMk/>
            <pc:sldMk cId="0" sldId="260"/>
            <ac:spMk id="22" creationId="{00000000-0000-0000-0000-000000000000}"/>
          </ac:spMkLst>
        </pc:spChg>
        <pc:spChg chg="mod">
          <ac:chgData name="c. divyasri" userId="13792de876a4d3ac" providerId="LiveId" clId="{AF162401-4151-4FAA-A5F2-64A4A60AD84F}" dt="2026-10-22T12:16:31.222" v="292" actId="1038"/>
          <ac:spMkLst>
            <pc:docMk/>
            <pc:sldMk cId="0" sldId="260"/>
            <ac:spMk id="24" creationId="{00000000-0000-0000-0000-000000000000}"/>
          </ac:spMkLst>
        </pc:spChg>
      </pc:sldChg>
      <pc:sldChg chg="addSp delSp modSp mod ord modTransition">
        <pc:chgData name="c. divyasri" userId="13792de876a4d3ac" providerId="LiveId" clId="{AF162401-4151-4FAA-A5F2-64A4A60AD84F}" dt="2026-10-28T10:26:32.718" v="669" actId="27309"/>
        <pc:sldMkLst>
          <pc:docMk/>
          <pc:sldMk cId="0" sldId="261"/>
        </pc:sldMkLst>
        <pc:spChg chg="add del mod">
          <ac:chgData name="c. divyasri" userId="13792de876a4d3ac" providerId="LiveId" clId="{AF162401-4151-4FAA-A5F2-64A4A60AD84F}" dt="2026-10-22T10:29:18.047" v="291" actId="14100"/>
          <ac:spMkLst>
            <pc:docMk/>
            <pc:sldMk cId="0" sldId="261"/>
            <ac:spMk id="3" creationId="{00000000-0000-0000-0000-000000000000}"/>
          </ac:spMkLst>
        </pc:spChg>
        <pc:spChg chg="add del mod">
          <ac:chgData name="c. divyasri" userId="13792de876a4d3ac" providerId="LiveId" clId="{AF162401-4151-4FAA-A5F2-64A4A60AD84F}" dt="2026-10-22T10:29:18.047" v="291" actId="14100"/>
          <ac:spMkLst>
            <pc:docMk/>
            <pc:sldMk cId="0" sldId="261"/>
            <ac:spMk id="5" creationId="{00000000-0000-0000-0000-000000000000}"/>
          </ac:spMkLst>
        </pc:spChg>
        <pc:spChg chg="mod">
          <ac:chgData name="c. divyasri" userId="13792de876a4d3ac" providerId="LiveId" clId="{AF162401-4151-4FAA-A5F2-64A4A60AD84F}" dt="2026-10-22T09:31:16.626" v="205" actId="1076"/>
          <ac:spMkLst>
            <pc:docMk/>
            <pc:sldMk cId="0" sldId="261"/>
            <ac:spMk id="11" creationId="{00000000-0000-0000-0000-000000000000}"/>
          </ac:spMkLst>
        </pc:spChg>
        <pc:spChg chg="add del mod">
          <ac:chgData name="c. divyasri" userId="13792de876a4d3ac" providerId="LiveId" clId="{AF162401-4151-4FAA-A5F2-64A4A60AD84F}" dt="2026-10-22T10:29:18.047" v="291" actId="14100"/>
          <ac:spMkLst>
            <pc:docMk/>
            <pc:sldMk cId="0" sldId="261"/>
            <ac:spMk id="14" creationId="{00000000-0000-0000-0000-000000000000}"/>
          </ac:spMkLst>
        </pc:spChg>
        <pc:spChg chg="add del mod">
          <ac:chgData name="c. divyasri" userId="13792de876a4d3ac" providerId="LiveId" clId="{AF162401-4151-4FAA-A5F2-64A4A60AD84F}" dt="2026-10-22T10:29:18.047" v="291" actId="14100"/>
          <ac:spMkLst>
            <pc:docMk/>
            <pc:sldMk cId="0" sldId="261"/>
            <ac:spMk id="15" creationId="{00000000-0000-0000-0000-000000000000}"/>
          </ac:spMkLst>
        </pc:spChg>
        <pc:spChg chg="add del mod">
          <ac:chgData name="c. divyasri" userId="13792de876a4d3ac" providerId="LiveId" clId="{AF162401-4151-4FAA-A5F2-64A4A60AD84F}" dt="2026-10-22T10:29:18.047" v="291" actId="14100"/>
          <ac:spMkLst>
            <pc:docMk/>
            <pc:sldMk cId="0" sldId="261"/>
            <ac:spMk id="16" creationId="{00000000-0000-0000-0000-000000000000}"/>
          </ac:spMkLst>
        </pc:spChg>
        <pc:spChg chg="add del mod">
          <ac:chgData name="c. divyasri" userId="13792de876a4d3ac" providerId="LiveId" clId="{AF162401-4151-4FAA-A5F2-64A4A60AD84F}" dt="2026-10-22T10:29:18.047" v="291" actId="14100"/>
          <ac:spMkLst>
            <pc:docMk/>
            <pc:sldMk cId="0" sldId="261"/>
            <ac:spMk id="17" creationId="{00000000-0000-0000-0000-000000000000}"/>
          </ac:spMkLst>
        </pc:spChg>
        <pc:spChg chg="mod">
          <ac:chgData name="c. divyasri" userId="13792de876a4d3ac" providerId="LiveId" clId="{AF162401-4151-4FAA-A5F2-64A4A60AD84F}" dt="2026-10-22T06:38:16.480" v="41" actId="1076"/>
          <ac:spMkLst>
            <pc:docMk/>
            <pc:sldMk cId="0" sldId="261"/>
            <ac:spMk id="19" creationId="{00000000-0000-0000-0000-000000000000}"/>
          </ac:spMkLst>
        </pc:spChg>
        <pc:spChg chg="add del mod">
          <ac:chgData name="c. divyasri" userId="13792de876a4d3ac" providerId="LiveId" clId="{AF162401-4151-4FAA-A5F2-64A4A60AD84F}" dt="2026-10-22T10:29:18.047" v="291" actId="14100"/>
          <ac:spMkLst>
            <pc:docMk/>
            <pc:sldMk cId="0" sldId="261"/>
            <ac:spMk id="20" creationId="{00000000-0000-0000-0000-000000000000}"/>
          </ac:spMkLst>
        </pc:spChg>
        <pc:spChg chg="add del mod">
          <ac:chgData name="c. divyasri" userId="13792de876a4d3ac" providerId="LiveId" clId="{AF162401-4151-4FAA-A5F2-64A4A60AD84F}" dt="2026-10-22T10:29:18.047" v="291" actId="14100"/>
          <ac:spMkLst>
            <pc:docMk/>
            <pc:sldMk cId="0" sldId="261"/>
            <ac:spMk id="21" creationId="{00000000-0000-0000-0000-000000000000}"/>
          </ac:spMkLst>
        </pc:spChg>
        <pc:spChg chg="add del mod">
          <ac:chgData name="c. divyasri" userId="13792de876a4d3ac" providerId="LiveId" clId="{AF162401-4151-4FAA-A5F2-64A4A60AD84F}" dt="2026-10-22T10:29:18.047" v="291" actId="14100"/>
          <ac:spMkLst>
            <pc:docMk/>
            <pc:sldMk cId="0" sldId="261"/>
            <ac:spMk id="22" creationId="{00000000-0000-0000-0000-000000000000}"/>
          </ac:spMkLst>
        </pc:spChg>
        <pc:spChg chg="mod">
          <ac:chgData name="c. divyasri" userId="13792de876a4d3ac" providerId="LiveId" clId="{AF162401-4151-4FAA-A5F2-64A4A60AD84F}" dt="2026-10-22T06:38:21.538" v="42" actId="1076"/>
          <ac:spMkLst>
            <pc:docMk/>
            <pc:sldMk cId="0" sldId="261"/>
            <ac:spMk id="23" creationId="{00000000-0000-0000-0000-000000000000}"/>
          </ac:spMkLst>
        </pc:spChg>
        <pc:spChg chg="add del mod">
          <ac:chgData name="c. divyasri" userId="13792de876a4d3ac" providerId="LiveId" clId="{AF162401-4151-4FAA-A5F2-64A4A60AD84F}" dt="2026-10-22T10:29:18.047" v="291" actId="14100"/>
          <ac:spMkLst>
            <pc:docMk/>
            <pc:sldMk cId="0" sldId="261"/>
            <ac:spMk id="24" creationId="{00000000-0000-0000-0000-000000000000}"/>
          </ac:spMkLst>
        </pc:spChg>
        <pc:graphicFrameChg chg="add del mod modGraphic">
          <ac:chgData name="c. divyasri" userId="13792de876a4d3ac" providerId="LiveId" clId="{AF162401-4151-4FAA-A5F2-64A4A60AD84F}" dt="2026-10-28T10:26:32.718" v="669" actId="27309"/>
          <ac:graphicFrameMkLst>
            <pc:docMk/>
            <pc:sldMk cId="0" sldId="261"/>
            <ac:graphicFrameMk id="4" creationId="{7240FFAA-91B1-2296-5280-B6932B5FC539}"/>
          </ac:graphicFrameMkLst>
        </pc:graphicFrameChg>
      </pc:sldChg>
      <pc:sldChg chg="delSp modSp mod modTransition">
        <pc:chgData name="c. divyasri" userId="13792de876a4d3ac" providerId="LiveId" clId="{AF162401-4151-4FAA-A5F2-64A4A60AD84F}" dt="2026-10-28T09:57:53.141" v="613"/>
        <pc:sldMkLst>
          <pc:docMk/>
          <pc:sldMk cId="0" sldId="262"/>
        </pc:sldMkLst>
        <pc:spChg chg="mod">
          <ac:chgData name="c. divyasri" userId="13792de876a4d3ac" providerId="LiveId" clId="{AF162401-4151-4FAA-A5F2-64A4A60AD84F}" dt="2026-10-22T09:31:30.657" v="206" actId="1076"/>
          <ac:spMkLst>
            <pc:docMk/>
            <pc:sldMk cId="0" sldId="262"/>
            <ac:spMk id="11" creationId="{00000000-0000-0000-0000-000000000000}"/>
          </ac:spMkLst>
        </pc:spChg>
        <pc:spChg chg="mod">
          <ac:chgData name="c. divyasri" userId="13792de876a4d3ac" providerId="LiveId" clId="{AF162401-4151-4FAA-A5F2-64A4A60AD84F}" dt="2026-10-22T06:56:49.763" v="121" actId="20577"/>
          <ac:spMkLst>
            <pc:docMk/>
            <pc:sldMk cId="0" sldId="262"/>
            <ac:spMk id="14" creationId="{00000000-0000-0000-0000-000000000000}"/>
          </ac:spMkLst>
        </pc:spChg>
        <pc:spChg chg="mod">
          <ac:chgData name="c. divyasri" userId="13792de876a4d3ac" providerId="LiveId" clId="{AF162401-4151-4FAA-A5F2-64A4A60AD84F}" dt="2026-10-22T06:57:40.793" v="125" actId="20577"/>
          <ac:spMkLst>
            <pc:docMk/>
            <pc:sldMk cId="0" sldId="262"/>
            <ac:spMk id="15" creationId="{00000000-0000-0000-0000-000000000000}"/>
          </ac:spMkLst>
        </pc:spChg>
        <pc:spChg chg="mod">
          <ac:chgData name="c. divyasri" userId="13792de876a4d3ac" providerId="LiveId" clId="{AF162401-4151-4FAA-A5F2-64A4A60AD84F}" dt="2026-10-22T06:58:02.979" v="126"/>
          <ac:spMkLst>
            <pc:docMk/>
            <pc:sldMk cId="0" sldId="262"/>
            <ac:spMk id="18" creationId="{00000000-0000-0000-0000-000000000000}"/>
          </ac:spMkLst>
        </pc:spChg>
        <pc:spChg chg="mod">
          <ac:chgData name="c. divyasri" userId="13792de876a4d3ac" providerId="LiveId" clId="{AF162401-4151-4FAA-A5F2-64A4A60AD84F}" dt="2026-10-22T06:58:37.030" v="131" actId="20577"/>
          <ac:spMkLst>
            <pc:docMk/>
            <pc:sldMk cId="0" sldId="262"/>
            <ac:spMk id="19" creationId="{00000000-0000-0000-0000-000000000000}"/>
          </ac:spMkLst>
        </pc:spChg>
        <pc:spChg chg="mod">
          <ac:chgData name="c. divyasri" userId="13792de876a4d3ac" providerId="LiveId" clId="{AF162401-4151-4FAA-A5F2-64A4A60AD84F}" dt="2026-10-22T06:58:53.763" v="132"/>
          <ac:spMkLst>
            <pc:docMk/>
            <pc:sldMk cId="0" sldId="262"/>
            <ac:spMk id="22" creationId="{00000000-0000-0000-0000-000000000000}"/>
          </ac:spMkLst>
        </pc:spChg>
        <pc:spChg chg="mod">
          <ac:chgData name="c. divyasri" userId="13792de876a4d3ac" providerId="LiveId" clId="{AF162401-4151-4FAA-A5F2-64A4A60AD84F}" dt="2026-10-22T06:59:19.690" v="138" actId="20577"/>
          <ac:spMkLst>
            <pc:docMk/>
            <pc:sldMk cId="0" sldId="262"/>
            <ac:spMk id="23" creationId="{00000000-0000-0000-0000-000000000000}"/>
          </ac:spMkLst>
        </pc:spChg>
        <pc:spChg chg="mod">
          <ac:chgData name="c. divyasri" userId="13792de876a4d3ac" providerId="LiveId" clId="{AF162401-4151-4FAA-A5F2-64A4A60AD84F}" dt="2026-10-22T06:59:38.602" v="139"/>
          <ac:spMkLst>
            <pc:docMk/>
            <pc:sldMk cId="0" sldId="262"/>
            <ac:spMk id="26" creationId="{00000000-0000-0000-0000-000000000000}"/>
          </ac:spMkLst>
        </pc:spChg>
        <pc:spChg chg="mod">
          <ac:chgData name="c. divyasri" userId="13792de876a4d3ac" providerId="LiveId" clId="{AF162401-4151-4FAA-A5F2-64A4A60AD84F}" dt="2026-10-22T07:00:03.540" v="144" actId="20577"/>
          <ac:spMkLst>
            <pc:docMk/>
            <pc:sldMk cId="0" sldId="262"/>
            <ac:spMk id="27" creationId="{00000000-0000-0000-0000-000000000000}"/>
          </ac:spMkLst>
        </pc:spChg>
        <pc:spChg chg="mod">
          <ac:chgData name="c. divyasri" userId="13792de876a4d3ac" providerId="LiveId" clId="{AF162401-4151-4FAA-A5F2-64A4A60AD84F}" dt="2026-10-22T07:00:14.100" v="145"/>
          <ac:spMkLst>
            <pc:docMk/>
            <pc:sldMk cId="0" sldId="262"/>
            <ac:spMk id="30" creationId="{00000000-0000-0000-0000-000000000000}"/>
          </ac:spMkLst>
        </pc:spChg>
        <pc:spChg chg="mod">
          <ac:chgData name="c. divyasri" userId="13792de876a4d3ac" providerId="LiveId" clId="{AF162401-4151-4FAA-A5F2-64A4A60AD84F}" dt="2026-10-22T07:00:35.646" v="149" actId="20577"/>
          <ac:spMkLst>
            <pc:docMk/>
            <pc:sldMk cId="0" sldId="262"/>
            <ac:spMk id="31" creationId="{00000000-0000-0000-0000-000000000000}"/>
          </ac:spMkLst>
        </pc:spChg>
      </pc:sldChg>
      <pc:sldChg chg="addSp delSp modSp mod modTransition">
        <pc:chgData name="c. divyasri" userId="13792de876a4d3ac" providerId="LiveId" clId="{AF162401-4151-4FAA-A5F2-64A4A60AD84F}" dt="2026-10-28T09:57:58.217" v="614"/>
        <pc:sldMkLst>
          <pc:docMk/>
          <pc:sldMk cId="0" sldId="263"/>
        </pc:sldMkLst>
        <pc:spChg chg="mod">
          <ac:chgData name="c. divyasri" userId="13792de876a4d3ac" providerId="LiveId" clId="{AF162401-4151-4FAA-A5F2-64A4A60AD84F}" dt="2026-10-22T09:41:24.190" v="251" actId="1076"/>
          <ac:spMkLst>
            <pc:docMk/>
            <pc:sldMk cId="0" sldId="263"/>
            <ac:spMk id="8" creationId="{00000000-0000-0000-0000-000000000000}"/>
          </ac:spMkLst>
        </pc:spChg>
        <pc:spChg chg="mod">
          <ac:chgData name="c. divyasri" userId="13792de876a4d3ac" providerId="LiveId" clId="{AF162401-4151-4FAA-A5F2-64A4A60AD84F}" dt="2026-10-22T06:41:23.560" v="58" actId="1038"/>
          <ac:spMkLst>
            <pc:docMk/>
            <pc:sldMk cId="0" sldId="263"/>
            <ac:spMk id="11" creationId="{00000000-0000-0000-0000-000000000000}"/>
          </ac:spMkLst>
        </pc:spChg>
        <pc:spChg chg="mod">
          <ac:chgData name="c. divyasri" userId="13792de876a4d3ac" providerId="LiveId" clId="{AF162401-4151-4FAA-A5F2-64A4A60AD84F}" dt="2026-10-22T06:41:20.563" v="57" actId="14100"/>
          <ac:spMkLst>
            <pc:docMk/>
            <pc:sldMk cId="0" sldId="263"/>
            <ac:spMk id="13" creationId="{00000000-0000-0000-0000-000000000000}"/>
          </ac:spMkLst>
        </pc:spChg>
        <pc:graphicFrameChg chg="add">
          <ac:chgData name="c. divyasri" userId="13792de876a4d3ac" providerId="LiveId" clId="{AF162401-4151-4FAA-A5F2-64A4A60AD84F}" dt="2026-10-22T07:03:37.946" v="154" actId="22"/>
          <ac:graphicFrameMkLst>
            <pc:docMk/>
            <pc:sldMk cId="0" sldId="263"/>
            <ac:graphicFrameMk id="4" creationId="{876BDF41-8FCF-7E9D-AC44-586DF9567FE8}"/>
          </ac:graphicFrameMkLst>
        </pc:graphicFrameChg>
      </pc:sldChg>
      <pc:sldChg chg="addSp delSp modSp mod modTransition">
        <pc:chgData name="c. divyasri" userId="13792de876a4d3ac" providerId="LiveId" clId="{AF162401-4151-4FAA-A5F2-64A4A60AD84F}" dt="2026-10-28T09:58:04.043" v="615"/>
        <pc:sldMkLst>
          <pc:docMk/>
          <pc:sldMk cId="0" sldId="264"/>
        </pc:sldMkLst>
        <pc:spChg chg="add del mod">
          <ac:chgData name="c. divyasri" userId="13792de876a4d3ac" providerId="LiveId" clId="{AF162401-4151-4FAA-A5F2-64A4A60AD84F}" dt="2026-10-28T09:42:33.911" v="572" actId="21"/>
          <ac:spMkLst>
            <pc:docMk/>
            <pc:sldMk cId="0" sldId="264"/>
            <ac:spMk id="4" creationId="{C145177F-9171-B925-46E8-740345018D97}"/>
          </ac:spMkLst>
        </pc:spChg>
        <pc:picChg chg="add mod">
          <ac:chgData name="c. divyasri" userId="13792de876a4d3ac" providerId="LiveId" clId="{AF162401-4151-4FAA-A5F2-64A4A60AD84F}" dt="2026-10-28T09:43:19.137" v="579" actId="14100"/>
          <ac:picMkLst>
            <pc:docMk/>
            <pc:sldMk cId="0" sldId="264"/>
            <ac:picMk id="3" creationId="{75C7CC3D-89D1-4478-7049-74CE6ECE6475}"/>
          </ac:picMkLst>
        </pc:picChg>
      </pc:sldChg>
      <pc:sldChg chg="addSp delSp modSp mod modTransition">
        <pc:chgData name="c. divyasri" userId="13792de876a4d3ac" providerId="LiveId" clId="{AF162401-4151-4FAA-A5F2-64A4A60AD84F}" dt="2026-10-28T09:58:39.695" v="622"/>
        <pc:sldMkLst>
          <pc:docMk/>
          <pc:sldMk cId="0" sldId="266"/>
        </pc:sldMkLst>
        <pc:spChg chg="mod">
          <ac:chgData name="c. divyasri" userId="13792de876a4d3ac" providerId="LiveId" clId="{AF162401-4151-4FAA-A5F2-64A4A60AD84F}" dt="2026-10-28T09:06:06.256" v="565" actId="20577"/>
          <ac:spMkLst>
            <pc:docMk/>
            <pc:sldMk cId="0" sldId="266"/>
            <ac:spMk id="11" creationId="{00000000-0000-0000-0000-000000000000}"/>
          </ac:spMkLst>
        </pc:spChg>
        <pc:spChg chg="mod">
          <ac:chgData name="c. divyasri" userId="13792de876a4d3ac" providerId="LiveId" clId="{AF162401-4151-4FAA-A5F2-64A4A60AD84F}" dt="2026-10-22T06:32:58.931" v="6" actId="1076"/>
          <ac:spMkLst>
            <pc:docMk/>
            <pc:sldMk cId="0" sldId="266"/>
            <ac:spMk id="14" creationId="{00000000-0000-0000-0000-000000000000}"/>
          </ac:spMkLst>
        </pc:spChg>
        <pc:spChg chg="mod">
          <ac:chgData name="c. divyasri" userId="13792de876a4d3ac" providerId="LiveId" clId="{AF162401-4151-4FAA-A5F2-64A4A60AD84F}" dt="2026-10-22T06:33:13.621" v="7" actId="1076"/>
          <ac:spMkLst>
            <pc:docMk/>
            <pc:sldMk cId="0" sldId="266"/>
            <ac:spMk id="18" creationId="{00000000-0000-0000-0000-000000000000}"/>
          </ac:spMkLst>
        </pc:spChg>
        <pc:spChg chg="mod">
          <ac:chgData name="c. divyasri" userId="13792de876a4d3ac" providerId="LiveId" clId="{AF162401-4151-4FAA-A5F2-64A4A60AD84F}" dt="2026-10-22T06:33:42.787" v="8" actId="1076"/>
          <ac:spMkLst>
            <pc:docMk/>
            <pc:sldMk cId="0" sldId="266"/>
            <ac:spMk id="22" creationId="{00000000-0000-0000-0000-000000000000}"/>
          </ac:spMkLst>
        </pc:spChg>
        <pc:spChg chg="mod">
          <ac:chgData name="c. divyasri" userId="13792de876a4d3ac" providerId="LiveId" clId="{AF162401-4151-4FAA-A5F2-64A4A60AD84F}" dt="2026-10-22T06:33:59.631" v="10" actId="1076"/>
          <ac:spMkLst>
            <pc:docMk/>
            <pc:sldMk cId="0" sldId="266"/>
            <ac:spMk id="26" creationId="{00000000-0000-0000-0000-000000000000}"/>
          </ac:spMkLst>
        </pc:spChg>
        <pc:spChg chg="mod">
          <ac:chgData name="c. divyasri" userId="13792de876a4d3ac" providerId="LiveId" clId="{AF162401-4151-4FAA-A5F2-64A4A60AD84F}" dt="2026-10-22T06:34:07.530" v="11" actId="1076"/>
          <ac:spMkLst>
            <pc:docMk/>
            <pc:sldMk cId="0" sldId="266"/>
            <ac:spMk id="30" creationId="{00000000-0000-0000-0000-000000000000}"/>
          </ac:spMkLst>
        </pc:spChg>
        <pc:spChg chg="mod">
          <ac:chgData name="c. divyasri" userId="13792de876a4d3ac" providerId="LiveId" clId="{AF162401-4151-4FAA-A5F2-64A4A60AD84F}" dt="2026-10-22T06:34:15.398" v="12" actId="1076"/>
          <ac:spMkLst>
            <pc:docMk/>
            <pc:sldMk cId="0" sldId="266"/>
            <ac:spMk id="34" creationId="{00000000-0000-0000-0000-000000000000}"/>
          </ac:spMkLst>
        </pc:spChg>
        <pc:spChg chg="mod">
          <ac:chgData name="c. divyasri" userId="13792de876a4d3ac" providerId="LiveId" clId="{AF162401-4151-4FAA-A5F2-64A4A60AD84F}" dt="2026-10-22T06:35:24.070" v="23" actId="1076"/>
          <ac:spMkLst>
            <pc:docMk/>
            <pc:sldMk cId="0" sldId="266"/>
            <ac:spMk id="38" creationId="{00000000-0000-0000-0000-000000000000}"/>
          </ac:spMkLst>
        </pc:spChg>
        <pc:spChg chg="mod">
          <ac:chgData name="c. divyasri" userId="13792de876a4d3ac" providerId="LiveId" clId="{AF162401-4151-4FAA-A5F2-64A4A60AD84F}" dt="2026-10-22T09:30:19.636" v="197" actId="1038"/>
          <ac:spMkLst>
            <pc:docMk/>
            <pc:sldMk cId="0" sldId="266"/>
            <ac:spMk id="40" creationId="{00000000-0000-0000-0000-000000000000}"/>
          </ac:spMkLst>
        </pc:spChg>
      </pc:sldChg>
      <pc:sldChg chg="addSp delSp modSp mod modTransition">
        <pc:chgData name="c. divyasri" userId="13792de876a4d3ac" providerId="LiveId" clId="{AF162401-4151-4FAA-A5F2-64A4A60AD84F}" dt="2026-10-28T09:58:43.737" v="623"/>
        <pc:sldMkLst>
          <pc:docMk/>
          <pc:sldMk cId="0" sldId="267"/>
        </pc:sldMkLst>
        <pc:spChg chg="mod">
          <ac:chgData name="c. divyasri" userId="13792de876a4d3ac" providerId="LiveId" clId="{AF162401-4151-4FAA-A5F2-64A4A60AD84F}" dt="2026-10-22T09:26:11.287" v="183" actId="1076"/>
          <ac:spMkLst>
            <pc:docMk/>
            <pc:sldMk cId="0" sldId="267"/>
            <ac:spMk id="5" creationId="{66291703-E7A7-35E8-CCE2-D7D8DAC9DD00}"/>
          </ac:spMkLst>
        </pc:spChg>
        <pc:spChg chg="add mod">
          <ac:chgData name="c. divyasri" userId="13792de876a4d3ac" providerId="LiveId" clId="{AF162401-4151-4FAA-A5F2-64A4A60AD84F}" dt="2026-10-22T09:26:17.899" v="184" actId="1076"/>
          <ac:spMkLst>
            <pc:docMk/>
            <pc:sldMk cId="0" sldId="267"/>
            <ac:spMk id="9" creationId="{CF226466-A645-6681-C8F7-0849AACEFF00}"/>
          </ac:spMkLst>
        </pc:spChg>
        <pc:spChg chg="add mod">
          <ac:chgData name="c. divyasri" userId="13792de876a4d3ac" providerId="LiveId" clId="{AF162401-4151-4FAA-A5F2-64A4A60AD84F}" dt="2026-10-22T09:23:59.402" v="173"/>
          <ac:spMkLst>
            <pc:docMk/>
            <pc:sldMk cId="0" sldId="267"/>
            <ac:spMk id="31" creationId="{C7D2AD7A-9204-39E1-BA66-A85FE657D2FF}"/>
          </ac:spMkLst>
        </pc:spChg>
        <pc:spChg chg="add mod">
          <ac:chgData name="c. divyasri" userId="13792de876a4d3ac" providerId="LiveId" clId="{AF162401-4151-4FAA-A5F2-64A4A60AD84F}" dt="2026-10-22T09:23:59.402" v="173"/>
          <ac:spMkLst>
            <pc:docMk/>
            <pc:sldMk cId="0" sldId="267"/>
            <ac:spMk id="33" creationId="{7380E1B8-7CA1-F73D-B9B9-616C4842E13B}"/>
          </ac:spMkLst>
        </pc:spChg>
        <pc:spChg chg="add mod">
          <ac:chgData name="c. divyasri" userId="13792de876a4d3ac" providerId="LiveId" clId="{AF162401-4151-4FAA-A5F2-64A4A60AD84F}" dt="2026-10-22T09:23:59.402" v="173"/>
          <ac:spMkLst>
            <pc:docMk/>
            <pc:sldMk cId="0" sldId="267"/>
            <ac:spMk id="42" creationId="{F8A9BB71-49A8-80C9-1EDB-20E72510260F}"/>
          </ac:spMkLst>
        </pc:spChg>
        <pc:spChg chg="add mod">
          <ac:chgData name="c. divyasri" userId="13792de876a4d3ac" providerId="LiveId" clId="{AF162401-4151-4FAA-A5F2-64A4A60AD84F}" dt="2026-10-22T09:23:59.402" v="173"/>
          <ac:spMkLst>
            <pc:docMk/>
            <pc:sldMk cId="0" sldId="267"/>
            <ac:spMk id="43" creationId="{304EEDC3-77F4-1C11-CA49-66422BDCE53B}"/>
          </ac:spMkLst>
        </pc:spChg>
        <pc:spChg chg="add mod">
          <ac:chgData name="c. divyasri" userId="13792de876a4d3ac" providerId="LiveId" clId="{AF162401-4151-4FAA-A5F2-64A4A60AD84F}" dt="2026-10-22T09:23:59.402" v="173"/>
          <ac:spMkLst>
            <pc:docMk/>
            <pc:sldMk cId="0" sldId="267"/>
            <ac:spMk id="44" creationId="{D614AA4F-7CE7-443B-4029-50D85B00F4FA}"/>
          </ac:spMkLst>
        </pc:spChg>
        <pc:spChg chg="add mod">
          <ac:chgData name="c. divyasri" userId="13792de876a4d3ac" providerId="LiveId" clId="{AF162401-4151-4FAA-A5F2-64A4A60AD84F}" dt="2026-10-22T09:23:59.402" v="173"/>
          <ac:spMkLst>
            <pc:docMk/>
            <pc:sldMk cId="0" sldId="267"/>
            <ac:spMk id="49" creationId="{0E72D2E6-3FCF-4233-2FD2-834E70DE9857}"/>
          </ac:spMkLst>
        </pc:spChg>
        <pc:spChg chg="add mod">
          <ac:chgData name="c. divyasri" userId="13792de876a4d3ac" providerId="LiveId" clId="{AF162401-4151-4FAA-A5F2-64A4A60AD84F}" dt="2026-10-28T09:06:16.563" v="567" actId="20577"/>
          <ac:spMkLst>
            <pc:docMk/>
            <pc:sldMk cId="0" sldId="267"/>
            <ac:spMk id="52" creationId="{DB6BB492-1BEB-9389-40EB-821E4FB7F869}"/>
          </ac:spMkLst>
        </pc:spChg>
      </pc:sldChg>
      <pc:sldChg chg="delSp modSp mod modTransition">
        <pc:chgData name="c. divyasri" userId="13792de876a4d3ac" providerId="LiveId" clId="{AF162401-4151-4FAA-A5F2-64A4A60AD84F}" dt="2026-10-28T09:58:48.484" v="624"/>
        <pc:sldMkLst>
          <pc:docMk/>
          <pc:sldMk cId="0" sldId="268"/>
        </pc:sldMkLst>
        <pc:spChg chg="mod">
          <ac:chgData name="c. divyasri" userId="13792de876a4d3ac" providerId="LiveId" clId="{AF162401-4151-4FAA-A5F2-64A4A60AD84F}" dt="2026-10-22T06:45:08.323" v="87" actId="20577"/>
          <ac:spMkLst>
            <pc:docMk/>
            <pc:sldMk cId="0" sldId="268"/>
            <ac:spMk id="8" creationId="{00000000-0000-0000-0000-000000000000}"/>
          </ac:spMkLst>
        </pc:spChg>
        <pc:spChg chg="mod">
          <ac:chgData name="c. divyasri" userId="13792de876a4d3ac" providerId="LiveId" clId="{AF162401-4151-4FAA-A5F2-64A4A60AD84F}" dt="2026-10-28T09:06:27.725" v="569" actId="20577"/>
          <ac:spMkLst>
            <pc:docMk/>
            <pc:sldMk cId="0" sldId="268"/>
            <ac:spMk id="11" creationId="{00000000-0000-0000-0000-000000000000}"/>
          </ac:spMkLst>
        </pc:spChg>
        <pc:spChg chg="mod">
          <ac:chgData name="c. divyasri" userId="13792de876a4d3ac" providerId="LiveId" clId="{AF162401-4151-4FAA-A5F2-64A4A60AD84F}" dt="2026-10-22T06:45:50.045" v="93" actId="1076"/>
          <ac:spMkLst>
            <pc:docMk/>
            <pc:sldMk cId="0" sldId="268"/>
            <ac:spMk id="15" creationId="{00000000-0000-0000-0000-000000000000}"/>
          </ac:spMkLst>
        </pc:spChg>
        <pc:spChg chg="mod">
          <ac:chgData name="c. divyasri" userId="13792de876a4d3ac" providerId="LiveId" clId="{AF162401-4151-4FAA-A5F2-64A4A60AD84F}" dt="2026-10-22T06:45:55.676" v="94" actId="1076"/>
          <ac:spMkLst>
            <pc:docMk/>
            <pc:sldMk cId="0" sldId="268"/>
            <ac:spMk id="19" creationId="{00000000-0000-0000-0000-000000000000}"/>
          </ac:spMkLst>
        </pc:spChg>
        <pc:spChg chg="mod">
          <ac:chgData name="c. divyasri" userId="13792de876a4d3ac" providerId="LiveId" clId="{AF162401-4151-4FAA-A5F2-64A4A60AD84F}" dt="2026-10-22T06:46:12.763" v="98" actId="20577"/>
          <ac:spMkLst>
            <pc:docMk/>
            <pc:sldMk cId="0" sldId="268"/>
            <ac:spMk id="23" creationId="{00000000-0000-0000-0000-000000000000}"/>
          </ac:spMkLst>
        </pc:spChg>
      </pc:sldChg>
      <pc:sldChg chg="addSp delSp modSp new mod modTransition">
        <pc:chgData name="c. divyasri" userId="13792de876a4d3ac" providerId="LiveId" clId="{AF162401-4151-4FAA-A5F2-64A4A60AD84F}" dt="2026-10-28T09:58:07.753" v="616"/>
        <pc:sldMkLst>
          <pc:docMk/>
          <pc:sldMk cId="4165457010" sldId="269"/>
        </pc:sldMkLst>
        <pc:spChg chg="add mod">
          <ac:chgData name="c. divyasri" userId="13792de876a4d3ac" providerId="LiveId" clId="{AF162401-4151-4FAA-A5F2-64A4A60AD84F}" dt="2026-10-28T08:52:45.267" v="470" actId="207"/>
          <ac:spMkLst>
            <pc:docMk/>
            <pc:sldMk cId="4165457010" sldId="269"/>
            <ac:spMk id="3" creationId="{672B93D8-4BE3-5B66-EBEC-A632CB9CB952}"/>
          </ac:spMkLst>
        </pc:spChg>
        <pc:spChg chg="add mod">
          <ac:chgData name="c. divyasri" userId="13792de876a4d3ac" providerId="LiveId" clId="{AF162401-4151-4FAA-A5F2-64A4A60AD84F}" dt="2026-10-28T08:52:10.414" v="469" actId="313"/>
          <ac:spMkLst>
            <pc:docMk/>
            <pc:sldMk cId="4165457010" sldId="269"/>
            <ac:spMk id="5" creationId="{D4BFF4E4-CD58-38BF-516B-9C15647CED67}"/>
          </ac:spMkLst>
        </pc:spChg>
        <pc:spChg chg="add mod">
          <ac:chgData name="c. divyasri" userId="13792de876a4d3ac" providerId="LiveId" clId="{AF162401-4151-4FAA-A5F2-64A4A60AD84F}" dt="2026-10-28T08:58:46.255" v="498" actId="1076"/>
          <ac:spMkLst>
            <pc:docMk/>
            <pc:sldMk cId="4165457010" sldId="269"/>
            <ac:spMk id="16" creationId="{9B1C18E2-4EDA-4E8B-C2C4-C4F5BE0191B6}"/>
          </ac:spMkLst>
        </pc:spChg>
        <pc:spChg chg="add del mod">
          <ac:chgData name="c. divyasri" userId="13792de876a4d3ac" providerId="LiveId" clId="{AF162401-4151-4FAA-A5F2-64A4A60AD84F}" dt="2026-10-28T08:51:01.510" v="460" actId="21"/>
          <ac:spMkLst>
            <pc:docMk/>
            <pc:sldMk cId="4165457010" sldId="269"/>
            <ac:spMk id="18" creationId="{5483A318-0807-48AF-FDDF-84AE4A161D5B}"/>
          </ac:spMkLst>
        </pc:spChg>
        <pc:spChg chg="add mod">
          <ac:chgData name="c. divyasri" userId="13792de876a4d3ac" providerId="LiveId" clId="{AF162401-4151-4FAA-A5F2-64A4A60AD84F}" dt="2026-10-22T09:11:25.214" v="163"/>
          <ac:spMkLst>
            <pc:docMk/>
            <pc:sldMk cId="4165457010" sldId="269"/>
            <ac:spMk id="19" creationId="{EBFBA734-99A8-F1E3-3329-ED4B06A2F14F}"/>
          </ac:spMkLst>
        </pc:spChg>
        <pc:spChg chg="add mod">
          <ac:chgData name="c. divyasri" userId="13792de876a4d3ac" providerId="LiveId" clId="{AF162401-4151-4FAA-A5F2-64A4A60AD84F}" dt="2026-10-22T09:29:43.206" v="189" actId="20577"/>
          <ac:spMkLst>
            <pc:docMk/>
            <pc:sldMk cId="4165457010" sldId="269"/>
            <ac:spMk id="22" creationId="{23F07BC3-9086-A5E4-0F95-B2425D4C2FD6}"/>
          </ac:spMkLst>
        </pc:spChg>
        <pc:graphicFrameChg chg="add del mod modGraphic">
          <ac:chgData name="c. divyasri" userId="13792de876a4d3ac" providerId="LiveId" clId="{AF162401-4151-4FAA-A5F2-64A4A60AD84F}" dt="2026-10-28T08:48:52.602" v="445" actId="21"/>
          <ac:graphicFrameMkLst>
            <pc:docMk/>
            <pc:sldMk cId="4165457010" sldId="269"/>
            <ac:graphicFrameMk id="20" creationId="{575BF943-015C-70AD-E21B-D28FD588CACF}"/>
          </ac:graphicFrameMkLst>
        </pc:graphicFrameChg>
      </pc:sldChg>
      <pc:sldChg chg="addSp delSp modSp new mod modTransition">
        <pc:chgData name="c. divyasri" userId="13792de876a4d3ac" providerId="LiveId" clId="{AF162401-4151-4FAA-A5F2-64A4A60AD84F}" dt="2026-10-28T09:58:34.855" v="621"/>
        <pc:sldMkLst>
          <pc:docMk/>
          <pc:sldMk cId="4100605292" sldId="270"/>
        </pc:sldMkLst>
        <pc:spChg chg="add mod">
          <ac:chgData name="c. divyasri" userId="13792de876a4d3ac" providerId="LiveId" clId="{AF162401-4151-4FAA-A5F2-64A4A60AD84F}" dt="2026-10-22T09:25:26.185" v="179" actId="1076"/>
          <ac:spMkLst>
            <pc:docMk/>
            <pc:sldMk cId="4100605292" sldId="270"/>
            <ac:spMk id="8" creationId="{5578B573-40E5-77D1-778B-F58FAA7EA229}"/>
          </ac:spMkLst>
        </pc:spChg>
        <pc:spChg chg="mod">
          <ac:chgData name="c. divyasri" userId="13792de876a4d3ac" providerId="LiveId" clId="{AF162401-4151-4FAA-A5F2-64A4A60AD84F}" dt="2026-10-22T09:25:31.212" v="180" actId="1076"/>
          <ac:spMkLst>
            <pc:docMk/>
            <pc:sldMk cId="4100605292" sldId="270"/>
            <ac:spMk id="12" creationId="{3CA116B2-D00F-5870-8F6A-E34F60A2B2E8}"/>
          </ac:spMkLst>
        </pc:spChg>
        <pc:spChg chg="add">
          <ac:chgData name="c. divyasri" userId="13792de876a4d3ac" providerId="LiveId" clId="{AF162401-4151-4FAA-A5F2-64A4A60AD84F}" dt="2026-10-22T09:18:05.504" v="170" actId="22"/>
          <ac:spMkLst>
            <pc:docMk/>
            <pc:sldMk cId="4100605292" sldId="270"/>
            <ac:spMk id="18" creationId="{E89FCBB8-A7B4-648D-FA99-91105CF6FB7F}"/>
          </ac:spMkLst>
        </pc:spChg>
        <pc:spChg chg="add">
          <ac:chgData name="c. divyasri" userId="13792de876a4d3ac" providerId="LiveId" clId="{AF162401-4151-4FAA-A5F2-64A4A60AD84F}" dt="2026-10-22T09:18:05.504" v="170" actId="22"/>
          <ac:spMkLst>
            <pc:docMk/>
            <pc:sldMk cId="4100605292" sldId="270"/>
            <ac:spMk id="22" creationId="{5A493FE7-9760-DE26-F09F-E3C830FE0F5C}"/>
          </ac:spMkLst>
        </pc:spChg>
        <pc:spChg chg="add">
          <ac:chgData name="c. divyasri" userId="13792de876a4d3ac" providerId="LiveId" clId="{AF162401-4151-4FAA-A5F2-64A4A60AD84F}" dt="2026-10-22T09:18:05.504" v="170" actId="22"/>
          <ac:spMkLst>
            <pc:docMk/>
            <pc:sldMk cId="4100605292" sldId="270"/>
            <ac:spMk id="26" creationId="{FC7B3A23-2D14-F4C5-42F4-7AED11191D7C}"/>
          </ac:spMkLst>
        </pc:spChg>
        <pc:spChg chg="add">
          <ac:chgData name="c. divyasri" userId="13792de876a4d3ac" providerId="LiveId" clId="{AF162401-4151-4FAA-A5F2-64A4A60AD84F}" dt="2026-10-22T09:18:05.504" v="170" actId="22"/>
          <ac:spMkLst>
            <pc:docMk/>
            <pc:sldMk cId="4100605292" sldId="270"/>
            <ac:spMk id="34" creationId="{066B286F-0AEA-1B9D-9C06-8CB2DCFB2F2F}"/>
          </ac:spMkLst>
        </pc:spChg>
        <pc:spChg chg="add">
          <ac:chgData name="c. divyasri" userId="13792de876a4d3ac" providerId="LiveId" clId="{AF162401-4151-4FAA-A5F2-64A4A60AD84F}" dt="2026-10-22T09:18:05.504" v="170" actId="22"/>
          <ac:spMkLst>
            <pc:docMk/>
            <pc:sldMk cId="4100605292" sldId="270"/>
            <ac:spMk id="38" creationId="{78FDCB94-0D66-CD81-274A-A634B8F402AA}"/>
          </ac:spMkLst>
        </pc:spChg>
        <pc:spChg chg="add">
          <ac:chgData name="c. divyasri" userId="13792de876a4d3ac" providerId="LiveId" clId="{AF162401-4151-4FAA-A5F2-64A4A60AD84F}" dt="2026-10-22T09:18:05.504" v="170" actId="22"/>
          <ac:spMkLst>
            <pc:docMk/>
            <pc:sldMk cId="4100605292" sldId="270"/>
            <ac:spMk id="40" creationId="{5441AA19-FCC3-A80C-8AD7-DB3856B9A556}"/>
          </ac:spMkLst>
        </pc:spChg>
        <pc:spChg chg="add">
          <ac:chgData name="c. divyasri" userId="13792de876a4d3ac" providerId="LiveId" clId="{AF162401-4151-4FAA-A5F2-64A4A60AD84F}" dt="2026-10-22T09:18:05.504" v="170" actId="22"/>
          <ac:spMkLst>
            <pc:docMk/>
            <pc:sldMk cId="4100605292" sldId="270"/>
            <ac:spMk id="52" creationId="{9C3A4F9B-9B29-7B0A-F187-9D607D141DB3}"/>
          </ac:spMkLst>
        </pc:spChg>
        <pc:spChg chg="add">
          <ac:chgData name="c. divyasri" userId="13792de876a4d3ac" providerId="LiveId" clId="{AF162401-4151-4FAA-A5F2-64A4A60AD84F}" dt="2026-10-22T09:18:05.504" v="170" actId="22"/>
          <ac:spMkLst>
            <pc:docMk/>
            <pc:sldMk cId="4100605292" sldId="270"/>
            <ac:spMk id="54" creationId="{DDB45ADC-52A6-CF49-A862-99C53CBBD5EF}"/>
          </ac:spMkLst>
        </pc:spChg>
        <pc:spChg chg="mod">
          <ac:chgData name="c. divyasri" userId="13792de876a4d3ac" providerId="LiveId" clId="{AF162401-4151-4FAA-A5F2-64A4A60AD84F}" dt="2026-10-22T09:25:41.959" v="181" actId="1076"/>
          <ac:spMkLst>
            <pc:docMk/>
            <pc:sldMk cId="4100605292" sldId="270"/>
            <ac:spMk id="56" creationId="{509034AC-A52D-407F-E1C6-4D8B33BF0F76}"/>
          </ac:spMkLst>
        </pc:spChg>
        <pc:spChg chg="add mod">
          <ac:chgData name="c. divyasri" userId="13792de876a4d3ac" providerId="LiveId" clId="{AF162401-4151-4FAA-A5F2-64A4A60AD84F}" dt="2026-10-28T09:05:57.214" v="563" actId="20577"/>
          <ac:spMkLst>
            <pc:docMk/>
            <pc:sldMk cId="4100605292" sldId="270"/>
            <ac:spMk id="58" creationId="{D8224C3D-1715-BF3D-6B6B-4B1FFDF4356D}"/>
          </ac:spMkLst>
        </pc:spChg>
      </pc:sldChg>
      <pc:sldChg chg="addSp delSp modSp new mod modTransition">
        <pc:chgData name="c. divyasri" userId="13792de876a4d3ac" providerId="LiveId" clId="{AF162401-4151-4FAA-A5F2-64A4A60AD84F}" dt="2026-10-28T09:58:11.244" v="617"/>
        <pc:sldMkLst>
          <pc:docMk/>
          <pc:sldMk cId="695513209" sldId="271"/>
        </pc:sldMkLst>
        <pc:spChg chg="del">
          <ac:chgData name="c. divyasri" userId="13792de876a4d3ac" providerId="LiveId" clId="{AF162401-4151-4FAA-A5F2-64A4A60AD84F}" dt="2026-10-28T08:53:39.727" v="474" actId="21"/>
          <ac:spMkLst>
            <pc:docMk/>
            <pc:sldMk cId="695513209" sldId="271"/>
            <ac:spMk id="2" creationId="{829648BA-A655-1B0A-D28A-B493574A5BD0}"/>
          </ac:spMkLst>
        </pc:spChg>
        <pc:spChg chg="del">
          <ac:chgData name="c. divyasri" userId="13792de876a4d3ac" providerId="LiveId" clId="{AF162401-4151-4FAA-A5F2-64A4A60AD84F}" dt="2026-10-28T08:53:36.493" v="473" actId="21"/>
          <ac:spMkLst>
            <pc:docMk/>
            <pc:sldMk cId="695513209" sldId="271"/>
            <ac:spMk id="3" creationId="{411FFE3A-4D33-4928-3EFA-642E13E4E218}"/>
          </ac:spMkLst>
        </pc:spChg>
        <pc:spChg chg="del">
          <ac:chgData name="c. divyasri" userId="13792de876a4d3ac" providerId="LiveId" clId="{AF162401-4151-4FAA-A5F2-64A4A60AD84F}" dt="2026-10-28T08:53:45.789" v="476" actId="21"/>
          <ac:spMkLst>
            <pc:docMk/>
            <pc:sldMk cId="695513209" sldId="271"/>
            <ac:spMk id="4" creationId="{CAD4CD4F-97BF-1F5E-618B-C5E4CE85EE57}"/>
          </ac:spMkLst>
        </pc:spChg>
        <pc:spChg chg="del">
          <ac:chgData name="c. divyasri" userId="13792de876a4d3ac" providerId="LiveId" clId="{AF162401-4151-4FAA-A5F2-64A4A60AD84F}" dt="2026-10-28T08:53:42.483" v="475" actId="21"/>
          <ac:spMkLst>
            <pc:docMk/>
            <pc:sldMk cId="695513209" sldId="271"/>
            <ac:spMk id="5" creationId="{75EFD69A-9707-22DC-5670-D2EDD2DCDF8C}"/>
          </ac:spMkLst>
        </pc:spChg>
        <pc:spChg chg="del">
          <ac:chgData name="c. divyasri" userId="13792de876a4d3ac" providerId="LiveId" clId="{AF162401-4151-4FAA-A5F2-64A4A60AD84F}" dt="2026-10-28T08:53:29.126" v="472" actId="21"/>
          <ac:spMkLst>
            <pc:docMk/>
            <pc:sldMk cId="695513209" sldId="271"/>
            <ac:spMk id="6" creationId="{03EC5DB2-398D-EE5B-8074-AB4ACA6A6FE6}"/>
          </ac:spMkLst>
        </pc:spChg>
        <pc:spChg chg="add del">
          <ac:chgData name="c. divyasri" userId="13792de876a4d3ac" providerId="LiveId" clId="{AF162401-4151-4FAA-A5F2-64A4A60AD84F}" dt="2026-10-28T08:58:26.142" v="496" actId="21"/>
          <ac:spMkLst>
            <pc:docMk/>
            <pc:sldMk cId="695513209" sldId="271"/>
            <ac:spMk id="8" creationId="{F66188B0-006F-35E4-4895-245A020BAE35}"/>
          </ac:spMkLst>
        </pc:spChg>
        <pc:spChg chg="add">
          <ac:chgData name="c. divyasri" userId="13792de876a4d3ac" providerId="LiveId" clId="{AF162401-4151-4FAA-A5F2-64A4A60AD84F}" dt="2026-10-28T08:53:59.987" v="477" actId="22"/>
          <ac:spMkLst>
            <pc:docMk/>
            <pc:sldMk cId="695513209" sldId="271"/>
            <ac:spMk id="10" creationId="{DC1AEE52-A356-0870-2D76-78FE61977C8D}"/>
          </ac:spMkLst>
        </pc:spChg>
        <pc:spChg chg="add mod">
          <ac:chgData name="c. divyasri" userId="13792de876a4d3ac" providerId="LiveId" clId="{AF162401-4151-4FAA-A5F2-64A4A60AD84F}" dt="2026-10-28T08:54:26.536" v="480" actId="20577"/>
          <ac:spMkLst>
            <pc:docMk/>
            <pc:sldMk cId="695513209" sldId="271"/>
            <ac:spMk id="12" creationId="{E96572A5-FBA9-8F4E-F5C5-CF9CBC0161C8}"/>
          </ac:spMkLst>
        </pc:spChg>
        <pc:spChg chg="add mod">
          <ac:chgData name="c. divyasri" userId="13792de876a4d3ac" providerId="LiveId" clId="{AF162401-4151-4FAA-A5F2-64A4A60AD84F}" dt="2026-10-28T08:57:20.260" v="495" actId="313"/>
          <ac:spMkLst>
            <pc:docMk/>
            <pc:sldMk cId="695513209" sldId="271"/>
            <ac:spMk id="14" creationId="{64BE81E4-E9FF-15A9-F163-55C2D483A3E4}"/>
          </ac:spMkLst>
        </pc:spChg>
        <pc:spChg chg="add mod">
          <ac:chgData name="c. divyasri" userId="13792de876a4d3ac" providerId="LiveId" clId="{AF162401-4151-4FAA-A5F2-64A4A60AD84F}" dt="2026-10-28T08:56:09.029" v="491" actId="12"/>
          <ac:spMkLst>
            <pc:docMk/>
            <pc:sldMk cId="695513209" sldId="271"/>
            <ac:spMk id="16" creationId="{5F16180F-2277-337E-7AF8-867002A6C834}"/>
          </ac:spMkLst>
        </pc:spChg>
      </pc:sldChg>
      <pc:sldChg chg="addSp delSp modSp new mod modTransition">
        <pc:chgData name="c. divyasri" userId="13792de876a4d3ac" providerId="LiveId" clId="{AF162401-4151-4FAA-A5F2-64A4A60AD84F}" dt="2026-10-28T09:58:16.691" v="618"/>
        <pc:sldMkLst>
          <pc:docMk/>
          <pc:sldMk cId="3931420686" sldId="272"/>
        </pc:sldMkLst>
        <pc:spChg chg="del">
          <ac:chgData name="c. divyasri" userId="13792de876a4d3ac" providerId="LiveId" clId="{AF162401-4151-4FAA-A5F2-64A4A60AD84F}" dt="2026-10-28T08:59:18.343" v="502" actId="21"/>
          <ac:spMkLst>
            <pc:docMk/>
            <pc:sldMk cId="3931420686" sldId="272"/>
            <ac:spMk id="2" creationId="{F607CA46-0989-4CEE-CE0E-6D7DB8B6A4DA}"/>
          </ac:spMkLst>
        </pc:spChg>
        <pc:spChg chg="del">
          <ac:chgData name="c. divyasri" userId="13792de876a4d3ac" providerId="LiveId" clId="{AF162401-4151-4FAA-A5F2-64A4A60AD84F}" dt="2026-10-28T08:59:11.650" v="500" actId="21"/>
          <ac:spMkLst>
            <pc:docMk/>
            <pc:sldMk cId="3931420686" sldId="272"/>
            <ac:spMk id="3" creationId="{C1E92DE7-7D99-BE81-87DF-BAA4090081A0}"/>
          </ac:spMkLst>
        </pc:spChg>
        <pc:spChg chg="del">
          <ac:chgData name="c. divyasri" userId="13792de876a4d3ac" providerId="LiveId" clId="{AF162401-4151-4FAA-A5F2-64A4A60AD84F}" dt="2026-10-28T08:59:24.311" v="504" actId="21"/>
          <ac:spMkLst>
            <pc:docMk/>
            <pc:sldMk cId="3931420686" sldId="272"/>
            <ac:spMk id="4" creationId="{6DF5BA4E-A026-6DDD-C687-2BC3BDCB202F}"/>
          </ac:spMkLst>
        </pc:spChg>
        <pc:spChg chg="del">
          <ac:chgData name="c. divyasri" userId="13792de876a4d3ac" providerId="LiveId" clId="{AF162401-4151-4FAA-A5F2-64A4A60AD84F}" dt="2026-10-28T08:59:13.902" v="501" actId="21"/>
          <ac:spMkLst>
            <pc:docMk/>
            <pc:sldMk cId="3931420686" sldId="272"/>
            <ac:spMk id="5" creationId="{6391FBD9-131A-ADD6-EF4A-5454C47795E5}"/>
          </ac:spMkLst>
        </pc:spChg>
        <pc:spChg chg="del">
          <ac:chgData name="c. divyasri" userId="13792de876a4d3ac" providerId="LiveId" clId="{AF162401-4151-4FAA-A5F2-64A4A60AD84F}" dt="2026-10-28T08:59:21.202" v="503" actId="21"/>
          <ac:spMkLst>
            <pc:docMk/>
            <pc:sldMk cId="3931420686" sldId="272"/>
            <ac:spMk id="6" creationId="{32C6C7BF-FE17-1719-2E0F-02ECCD497189}"/>
          </ac:spMkLst>
        </pc:spChg>
        <pc:spChg chg="add">
          <ac:chgData name="c. divyasri" userId="13792de876a4d3ac" providerId="LiveId" clId="{AF162401-4151-4FAA-A5F2-64A4A60AD84F}" dt="2026-10-28T08:59:33.351" v="505" actId="22"/>
          <ac:spMkLst>
            <pc:docMk/>
            <pc:sldMk cId="3931420686" sldId="272"/>
            <ac:spMk id="8" creationId="{AC2C61FB-604E-E643-EF31-7CE0EB1FC2CF}"/>
          </ac:spMkLst>
        </pc:spChg>
        <pc:spChg chg="add mod">
          <ac:chgData name="c. divyasri" userId="13792de876a4d3ac" providerId="LiveId" clId="{AF162401-4151-4FAA-A5F2-64A4A60AD84F}" dt="2026-10-28T09:00:49.849" v="515" actId="20577"/>
          <ac:spMkLst>
            <pc:docMk/>
            <pc:sldMk cId="3931420686" sldId="272"/>
            <ac:spMk id="10" creationId="{934B016C-6D63-3175-E3AF-F478FA7F8F26}"/>
          </ac:spMkLst>
        </pc:spChg>
        <pc:spChg chg="add mod">
          <ac:chgData name="c. divyasri" userId="13792de876a4d3ac" providerId="LiveId" clId="{AF162401-4151-4FAA-A5F2-64A4A60AD84F}" dt="2026-10-28T09:01:17.172" v="518" actId="207"/>
          <ac:spMkLst>
            <pc:docMk/>
            <pc:sldMk cId="3931420686" sldId="272"/>
            <ac:spMk id="12" creationId="{2C7DCC03-502F-D4FF-1BD0-06C62119D9A4}"/>
          </ac:spMkLst>
        </pc:spChg>
        <pc:spChg chg="add mod">
          <ac:chgData name="c. divyasri" userId="13792de876a4d3ac" providerId="LiveId" clId="{AF162401-4151-4FAA-A5F2-64A4A60AD84F}" dt="2026-10-28T09:00:32.217" v="513" actId="12"/>
          <ac:spMkLst>
            <pc:docMk/>
            <pc:sldMk cId="3931420686" sldId="272"/>
            <ac:spMk id="14" creationId="{F9B4DF7A-341F-298F-415A-CC2B90F6C0E8}"/>
          </ac:spMkLst>
        </pc:spChg>
      </pc:sldChg>
      <pc:sldChg chg="addSp delSp modSp new mod modTransition">
        <pc:chgData name="c. divyasri" userId="13792de876a4d3ac" providerId="LiveId" clId="{AF162401-4151-4FAA-A5F2-64A4A60AD84F}" dt="2026-10-28T09:58:27.170" v="619"/>
        <pc:sldMkLst>
          <pc:docMk/>
          <pc:sldMk cId="2525531308" sldId="273"/>
        </pc:sldMkLst>
        <pc:spChg chg="del">
          <ac:chgData name="c. divyasri" userId="13792de876a4d3ac" providerId="LiveId" clId="{AF162401-4151-4FAA-A5F2-64A4A60AD84F}" dt="2026-10-28T09:01:40.134" v="521" actId="21"/>
          <ac:spMkLst>
            <pc:docMk/>
            <pc:sldMk cId="2525531308" sldId="273"/>
            <ac:spMk id="2" creationId="{6F9E2082-C6EF-0B8C-5964-8D0D3E103D85}"/>
          </ac:spMkLst>
        </pc:spChg>
        <pc:spChg chg="del">
          <ac:chgData name="c. divyasri" userId="13792de876a4d3ac" providerId="LiveId" clId="{AF162401-4151-4FAA-A5F2-64A4A60AD84F}" dt="2026-10-28T09:01:42.813" v="522" actId="21"/>
          <ac:spMkLst>
            <pc:docMk/>
            <pc:sldMk cId="2525531308" sldId="273"/>
            <ac:spMk id="3" creationId="{17836C83-D543-319E-902B-7C2A7CE385FE}"/>
          </ac:spMkLst>
        </pc:spChg>
        <pc:spChg chg="del">
          <ac:chgData name="c. divyasri" userId="13792de876a4d3ac" providerId="LiveId" clId="{AF162401-4151-4FAA-A5F2-64A4A60AD84F}" dt="2026-10-28T09:01:48.213" v="523" actId="21"/>
          <ac:spMkLst>
            <pc:docMk/>
            <pc:sldMk cId="2525531308" sldId="273"/>
            <ac:spMk id="4" creationId="{827EB237-4A46-BE37-4C39-8A65B9B503D9}"/>
          </ac:spMkLst>
        </pc:spChg>
        <pc:spChg chg="del">
          <ac:chgData name="c. divyasri" userId="13792de876a4d3ac" providerId="LiveId" clId="{AF162401-4151-4FAA-A5F2-64A4A60AD84F}" dt="2026-10-28T09:01:51.739" v="524" actId="21"/>
          <ac:spMkLst>
            <pc:docMk/>
            <pc:sldMk cId="2525531308" sldId="273"/>
            <ac:spMk id="5" creationId="{80749F53-43A6-36A3-C94A-1CF3EC8F3918}"/>
          </ac:spMkLst>
        </pc:spChg>
        <pc:spChg chg="del">
          <ac:chgData name="c. divyasri" userId="13792de876a4d3ac" providerId="LiveId" clId="{AF162401-4151-4FAA-A5F2-64A4A60AD84F}" dt="2026-10-28T09:01:57.107" v="525" actId="21"/>
          <ac:spMkLst>
            <pc:docMk/>
            <pc:sldMk cId="2525531308" sldId="273"/>
            <ac:spMk id="6" creationId="{58A9F722-2014-13D1-6851-80330C356BEF}"/>
          </ac:spMkLst>
        </pc:spChg>
        <pc:spChg chg="add">
          <ac:chgData name="c. divyasri" userId="13792de876a4d3ac" providerId="LiveId" clId="{AF162401-4151-4FAA-A5F2-64A4A60AD84F}" dt="2026-10-28T09:02:25.656" v="531" actId="22"/>
          <ac:spMkLst>
            <pc:docMk/>
            <pc:sldMk cId="2525531308" sldId="273"/>
            <ac:spMk id="8" creationId="{EF1A3E5A-140B-4C23-40E9-6005ED82C33A}"/>
          </ac:spMkLst>
        </pc:spChg>
        <pc:spChg chg="add mod">
          <ac:chgData name="c. divyasri" userId="13792de876a4d3ac" providerId="LiveId" clId="{AF162401-4151-4FAA-A5F2-64A4A60AD84F}" dt="2026-10-28T09:05:34.732" v="559" actId="20577"/>
          <ac:spMkLst>
            <pc:docMk/>
            <pc:sldMk cId="2525531308" sldId="273"/>
            <ac:spMk id="10" creationId="{E6D7C1B5-38CF-5651-F112-F3B146405AD2}"/>
          </ac:spMkLst>
        </pc:spChg>
        <pc:spChg chg="add mod">
          <ac:chgData name="c. divyasri" userId="13792de876a4d3ac" providerId="LiveId" clId="{AF162401-4151-4FAA-A5F2-64A4A60AD84F}" dt="2026-10-28T09:02:48.273" v="535" actId="207"/>
          <ac:spMkLst>
            <pc:docMk/>
            <pc:sldMk cId="2525531308" sldId="273"/>
            <ac:spMk id="12" creationId="{DFBC17E1-901F-61E1-61B9-BAF4956C90C1}"/>
          </ac:spMkLst>
        </pc:spChg>
        <pc:spChg chg="add mod">
          <ac:chgData name="c. divyasri" userId="13792de876a4d3ac" providerId="LiveId" clId="{AF162401-4151-4FAA-A5F2-64A4A60AD84F}" dt="2026-10-28T09:04:06.269" v="548" actId="12"/>
          <ac:spMkLst>
            <pc:docMk/>
            <pc:sldMk cId="2525531308" sldId="273"/>
            <ac:spMk id="14" creationId="{6F35BC97-F661-AD36-90B9-5AAE6FCB1801}"/>
          </ac:spMkLst>
        </pc:spChg>
      </pc:sldChg>
      <pc:sldChg chg="addSp delSp modSp new mod modTransition">
        <pc:chgData name="c. divyasri" userId="13792de876a4d3ac" providerId="LiveId" clId="{AF162401-4151-4FAA-A5F2-64A4A60AD84F}" dt="2026-10-28T09:58:31.071" v="620"/>
        <pc:sldMkLst>
          <pc:docMk/>
          <pc:sldMk cId="3591231083" sldId="274"/>
        </pc:sldMkLst>
        <pc:spChg chg="del">
          <ac:chgData name="c. divyasri" userId="13792de876a4d3ac" providerId="LiveId" clId="{AF162401-4151-4FAA-A5F2-64A4A60AD84F}" dt="2026-10-28T09:02:04.656" v="527" actId="21"/>
          <ac:spMkLst>
            <pc:docMk/>
            <pc:sldMk cId="3591231083" sldId="274"/>
            <ac:spMk id="2" creationId="{BD5A1F0E-4944-5440-CE89-CD73CAA17ACC}"/>
          </ac:spMkLst>
        </pc:spChg>
        <pc:spChg chg="del">
          <ac:chgData name="c. divyasri" userId="13792de876a4d3ac" providerId="LiveId" clId="{AF162401-4151-4FAA-A5F2-64A4A60AD84F}" dt="2026-10-28T09:02:02.396" v="526" actId="21"/>
          <ac:spMkLst>
            <pc:docMk/>
            <pc:sldMk cId="3591231083" sldId="274"/>
            <ac:spMk id="3" creationId="{D4F5CFA7-8445-9D95-504F-174C5DD685B0}"/>
          </ac:spMkLst>
        </pc:spChg>
        <pc:spChg chg="del">
          <ac:chgData name="c. divyasri" userId="13792de876a4d3ac" providerId="LiveId" clId="{AF162401-4151-4FAA-A5F2-64A4A60AD84F}" dt="2026-10-28T09:02:12.661" v="530" actId="21"/>
          <ac:spMkLst>
            <pc:docMk/>
            <pc:sldMk cId="3591231083" sldId="274"/>
            <ac:spMk id="4" creationId="{D00D376C-2F84-456C-94C3-18A421EF467D}"/>
          </ac:spMkLst>
        </pc:spChg>
        <pc:spChg chg="del">
          <ac:chgData name="c. divyasri" userId="13792de876a4d3ac" providerId="LiveId" clId="{AF162401-4151-4FAA-A5F2-64A4A60AD84F}" dt="2026-10-28T09:02:07.681" v="528" actId="21"/>
          <ac:spMkLst>
            <pc:docMk/>
            <pc:sldMk cId="3591231083" sldId="274"/>
            <ac:spMk id="5" creationId="{27EA4319-C922-3841-A071-C52465D646AA}"/>
          </ac:spMkLst>
        </pc:spChg>
        <pc:spChg chg="del">
          <ac:chgData name="c. divyasri" userId="13792de876a4d3ac" providerId="LiveId" clId="{AF162401-4151-4FAA-A5F2-64A4A60AD84F}" dt="2026-10-28T09:02:10.097" v="529" actId="21"/>
          <ac:spMkLst>
            <pc:docMk/>
            <pc:sldMk cId="3591231083" sldId="274"/>
            <ac:spMk id="6" creationId="{0D62983F-1B4E-34AF-368C-6AA22F2B3D34}"/>
          </ac:spMkLst>
        </pc:spChg>
        <pc:spChg chg="add">
          <ac:chgData name="c. divyasri" userId="13792de876a4d3ac" providerId="LiveId" clId="{AF162401-4151-4FAA-A5F2-64A4A60AD84F}" dt="2026-10-28T09:02:28.909" v="532" actId="22"/>
          <ac:spMkLst>
            <pc:docMk/>
            <pc:sldMk cId="3591231083" sldId="274"/>
            <ac:spMk id="8" creationId="{CC5909A9-2910-5BAA-4E1E-B0273C4EB580}"/>
          </ac:spMkLst>
        </pc:spChg>
        <pc:spChg chg="add mod">
          <ac:chgData name="c. divyasri" userId="13792de876a4d3ac" providerId="LiveId" clId="{AF162401-4151-4FAA-A5F2-64A4A60AD84F}" dt="2026-10-28T09:05:43.473" v="561" actId="20577"/>
          <ac:spMkLst>
            <pc:docMk/>
            <pc:sldMk cId="3591231083" sldId="274"/>
            <ac:spMk id="10" creationId="{FE3FF8C4-B99F-7AFF-1A3D-3046BCD01642}"/>
          </ac:spMkLst>
        </pc:spChg>
        <pc:spChg chg="add mod">
          <ac:chgData name="c. divyasri" userId="13792de876a4d3ac" providerId="LiveId" clId="{AF162401-4151-4FAA-A5F2-64A4A60AD84F}" dt="2026-10-28T09:03:07.804" v="538" actId="207"/>
          <ac:spMkLst>
            <pc:docMk/>
            <pc:sldMk cId="3591231083" sldId="274"/>
            <ac:spMk id="12" creationId="{C5E931B4-A04D-D487-9A1A-D33059BC0196}"/>
          </ac:spMkLst>
        </pc:spChg>
        <pc:spChg chg="add mod">
          <ac:chgData name="c. divyasri" userId="13792de876a4d3ac" providerId="LiveId" clId="{AF162401-4151-4FAA-A5F2-64A4A60AD84F}" dt="2026-10-28T09:05:23.155" v="557" actId="313"/>
          <ac:spMkLst>
            <pc:docMk/>
            <pc:sldMk cId="3591231083" sldId="274"/>
            <ac:spMk id="14" creationId="{84E4E6F8-C033-6896-380A-75533F85D948}"/>
          </ac:spMkLst>
        </pc:spChg>
      </pc:sldChg>
      <pc:sldChg chg="new del">
        <pc:chgData name="c. divyasri" userId="13792de876a4d3ac" providerId="LiveId" clId="{AF162401-4151-4FAA-A5F2-64A4A60AD84F}" dt="2026-10-28T10:21:11.288" v="663" actId="680"/>
        <pc:sldMkLst>
          <pc:docMk/>
          <pc:sldMk cId="2080425466" sldId="275"/>
        </pc:sldMkLst>
      </pc:sldChg>
      <pc:sldChg chg="new del">
        <pc:chgData name="c. divyasri" userId="13792de876a4d3ac" providerId="LiveId" clId="{AF162401-4151-4FAA-A5F2-64A4A60AD84F}" dt="2026-10-28T10:21:10.402" v="662" actId="680"/>
        <pc:sldMkLst>
          <pc:docMk/>
          <pc:sldMk cId="2504531613" sldId="276"/>
        </pc:sldMkLst>
      </pc:sldChg>
      <pc:sldChg chg="new del">
        <pc:chgData name="c. divyasri" userId="13792de876a4d3ac" providerId="LiveId" clId="{AF162401-4151-4FAA-A5F2-64A4A60AD84F}" dt="2026-10-28T10:21:10.174" v="661" actId="680"/>
        <pc:sldMkLst>
          <pc:docMk/>
          <pc:sldMk cId="2158259118" sldId="277"/>
        </pc:sldMkLst>
      </pc:sldChg>
      <pc:sldChg chg="new del">
        <pc:chgData name="c. divyasri" userId="13792de876a4d3ac" providerId="LiveId" clId="{AF162401-4151-4FAA-A5F2-64A4A60AD84F}" dt="2026-10-28T10:21:09.946" v="660" actId="680"/>
        <pc:sldMkLst>
          <pc:docMk/>
          <pc:sldMk cId="287381747" sldId="278"/>
        </pc:sldMkLst>
      </pc:sldChg>
      <pc:sldChg chg="new del">
        <pc:chgData name="c. divyasri" userId="13792de876a4d3ac" providerId="LiveId" clId="{AF162401-4151-4FAA-A5F2-64A4A60AD84F}" dt="2026-10-28T10:21:09.685" v="659" actId="680"/>
        <pc:sldMkLst>
          <pc:docMk/>
          <pc:sldMk cId="1826740068" sldId="279"/>
        </pc:sldMkLst>
      </pc:sldChg>
      <pc:sldChg chg="new del">
        <pc:chgData name="c. divyasri" userId="13792de876a4d3ac" providerId="LiveId" clId="{AF162401-4151-4FAA-A5F2-64A4A60AD84F}" dt="2026-10-28T10:21:09.340" v="658" actId="680"/>
        <pc:sldMkLst>
          <pc:docMk/>
          <pc:sldMk cId="141442889" sldId="280"/>
        </pc:sldMkLst>
      </pc:sldChg>
      <pc:sldChg chg="new del">
        <pc:chgData name="c. divyasri" userId="13792de876a4d3ac" providerId="LiveId" clId="{AF162401-4151-4FAA-A5F2-64A4A60AD84F}" dt="2026-10-28T10:21:08.922" v="657" actId="680"/>
        <pc:sldMkLst>
          <pc:docMk/>
          <pc:sldMk cId="1860686806" sldId="281"/>
        </pc:sldMkLst>
      </pc:sldChg>
      <pc:sldChg chg="new del">
        <pc:chgData name="c. divyasri" userId="13792de876a4d3ac" providerId="LiveId" clId="{AF162401-4151-4FAA-A5F2-64A4A60AD84F}" dt="2026-10-28T10:21:08.487" v="656" actId="680"/>
        <pc:sldMkLst>
          <pc:docMk/>
          <pc:sldMk cId="2247008726" sldId="282"/>
        </pc:sldMkLst>
      </pc:sldChg>
      <pc:sldChg chg="new del">
        <pc:chgData name="c. divyasri" userId="13792de876a4d3ac" providerId="LiveId" clId="{AF162401-4151-4FAA-A5F2-64A4A60AD84F}" dt="2026-10-28T10:21:08.240" v="655" actId="680"/>
        <pc:sldMkLst>
          <pc:docMk/>
          <pc:sldMk cId="2191487198" sldId="283"/>
        </pc:sldMkLst>
      </pc:sldChg>
      <pc:sldChg chg="new del">
        <pc:chgData name="c. divyasri" userId="13792de876a4d3ac" providerId="LiveId" clId="{AF162401-4151-4FAA-A5F2-64A4A60AD84F}" dt="2026-10-28T10:21:07.999" v="654" actId="680"/>
        <pc:sldMkLst>
          <pc:docMk/>
          <pc:sldMk cId="3808928608" sldId="284"/>
        </pc:sldMkLst>
      </pc:sldChg>
      <pc:sldChg chg="new del">
        <pc:chgData name="c. divyasri" userId="13792de876a4d3ac" providerId="LiveId" clId="{AF162401-4151-4FAA-A5F2-64A4A60AD84F}" dt="2026-10-28T10:21:07.749" v="653" actId="680"/>
        <pc:sldMkLst>
          <pc:docMk/>
          <pc:sldMk cId="3857425201" sldId="285"/>
        </pc:sldMkLst>
      </pc:sldChg>
      <pc:sldChg chg="new del">
        <pc:chgData name="c. divyasri" userId="13792de876a4d3ac" providerId="LiveId" clId="{AF162401-4151-4FAA-A5F2-64A4A60AD84F}" dt="2026-10-28T10:21:07.506" v="652" actId="680"/>
        <pc:sldMkLst>
          <pc:docMk/>
          <pc:sldMk cId="1857036903" sldId="286"/>
        </pc:sldMkLst>
      </pc:sldChg>
      <pc:sldChg chg="new del">
        <pc:chgData name="c. divyasri" userId="13792de876a4d3ac" providerId="LiveId" clId="{AF162401-4151-4FAA-A5F2-64A4A60AD84F}" dt="2026-10-28T10:21:07.232" v="651" actId="680"/>
        <pc:sldMkLst>
          <pc:docMk/>
          <pc:sldMk cId="1808567030" sldId="287"/>
        </pc:sldMkLst>
      </pc:sldChg>
      <pc:sldChg chg="new del">
        <pc:chgData name="c. divyasri" userId="13792de876a4d3ac" providerId="LiveId" clId="{AF162401-4151-4FAA-A5F2-64A4A60AD84F}" dt="2026-10-28T10:21:06.920" v="650" actId="680"/>
        <pc:sldMkLst>
          <pc:docMk/>
          <pc:sldMk cId="1407667853" sldId="288"/>
        </pc:sldMkLst>
      </pc:sldChg>
      <pc:sldChg chg="new del">
        <pc:chgData name="c. divyasri" userId="13792de876a4d3ac" providerId="LiveId" clId="{AF162401-4151-4FAA-A5F2-64A4A60AD84F}" dt="2026-10-28T10:21:06.535" v="649" actId="680"/>
        <pc:sldMkLst>
          <pc:docMk/>
          <pc:sldMk cId="2530868396" sldId="289"/>
        </pc:sldMkLst>
      </pc:sldChg>
      <pc:sldChg chg="new del">
        <pc:chgData name="c. divyasri" userId="13792de876a4d3ac" providerId="LiveId" clId="{AF162401-4151-4FAA-A5F2-64A4A60AD84F}" dt="2026-10-28T10:21:06.161" v="648" actId="680"/>
        <pc:sldMkLst>
          <pc:docMk/>
          <pc:sldMk cId="322594351" sldId="290"/>
        </pc:sldMkLst>
      </pc:sldChg>
      <pc:sldChg chg="new del">
        <pc:chgData name="c. divyasri" userId="13792de876a4d3ac" providerId="LiveId" clId="{AF162401-4151-4FAA-A5F2-64A4A60AD84F}" dt="2026-10-28T10:21:05.843" v="647" actId="680"/>
        <pc:sldMkLst>
          <pc:docMk/>
          <pc:sldMk cId="4041664816" sldId="291"/>
        </pc:sldMkLst>
      </pc:sldChg>
      <pc:sldChg chg="new del">
        <pc:chgData name="c. divyasri" userId="13792de876a4d3ac" providerId="LiveId" clId="{AF162401-4151-4FAA-A5F2-64A4A60AD84F}" dt="2026-10-28T10:21:05.559" v="646" actId="680"/>
        <pc:sldMkLst>
          <pc:docMk/>
          <pc:sldMk cId="1663938455" sldId="292"/>
        </pc:sldMkLst>
      </pc:sldChg>
      <pc:sldChg chg="new del">
        <pc:chgData name="c. divyasri" userId="13792de876a4d3ac" providerId="LiveId" clId="{AF162401-4151-4FAA-A5F2-64A4A60AD84F}" dt="2026-10-28T10:21:05.198" v="645" actId="680"/>
        <pc:sldMkLst>
          <pc:docMk/>
          <pc:sldMk cId="2370689307" sldId="29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98615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20241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divya-sri27/"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1941096" y="3751888"/>
            <a:ext cx="8775030" cy="584735"/>
          </a:xfrm>
          <a:prstGeom prst="rect">
            <a:avLst/>
          </a:prstGeom>
          <a:noFill/>
          <a:ln>
            <a:noFill/>
          </a:ln>
        </p:spPr>
        <p:txBody>
          <a:bodyPr spcFirstLastPara="1" wrap="square" lIns="91425" tIns="45700" rIns="91425" bIns="45700" anchor="ctr" anchorCtr="0">
            <a:spAutoFit/>
          </a:bodyPr>
          <a:lstStyle/>
          <a:p>
            <a:pPr lvl="0" algn="ctr">
              <a:buSzPts val="1800"/>
            </a:pPr>
            <a:r>
              <a:rPr lang="en-US" sz="3200" b="1" dirty="0">
                <a:latin typeface="Times New Roman" panose="02020603050405020304" pitchFamily="18" charset="0"/>
                <a:cs typeface="Times New Roman" panose="02020603050405020304" pitchFamily="18" charset="0"/>
              </a:rPr>
              <a:t>Retail Supply Chain &amp; Warehousing Analytics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1129665" y="1895932"/>
            <a:ext cx="10256090" cy="2785338"/>
          </a:xfrm>
          <a:prstGeom prst="rect">
            <a:avLst/>
          </a:prstGeom>
          <a:noFill/>
          <a:ln>
            <a:noFill/>
          </a:ln>
        </p:spPr>
        <p:txBody>
          <a:bodyPr spcFirstLastPara="1" wrap="square" lIns="91425" tIns="45700" rIns="91425" bIns="45700" anchor="ctr" anchorCtr="0">
            <a:spAutoFit/>
          </a:bodyPr>
          <a:lstStyle/>
          <a:p>
            <a:pPr marR="0" lvl="0" algn="l" rtl="0">
              <a:lnSpc>
                <a:spcPct val="100000"/>
              </a:lnSpc>
              <a:spcBef>
                <a:spcPts val="0"/>
              </a:spcBef>
              <a:spcAft>
                <a:spcPts val="600"/>
              </a:spcAft>
              <a:buClr>
                <a:schemeClr val="dk1"/>
              </a:buClr>
              <a:buSzPts val="2400"/>
              <a:defRPr sz="2300" b="1">
                <a:solidFill>
                  <a:srgbClr val="193152"/>
                </a:solidFill>
                <a:latin typeface="Aptos"/>
              </a:defRPr>
            </a:pPr>
            <a:r>
              <a:rPr lang="en-US" sz="2000" dirty="0"/>
              <a:t>                                                                </a:t>
            </a:r>
            <a:r>
              <a:rPr sz="2000" dirty="0"/>
              <a:t>C. DIVYA SRI</a:t>
            </a:r>
            <a:endParaRPr sz="2000" b="1" i="0" u="none" strike="noStrike" cap="none" dirty="0">
              <a:solidFill>
                <a:schemeClr val="dk1"/>
              </a:solidFill>
              <a:latin typeface="Calibri"/>
              <a:ea typeface="Calibri"/>
              <a:cs typeface="Calibri"/>
              <a:sym typeface="Calibri"/>
            </a:endParaRPr>
          </a:p>
          <a:p>
            <a:pPr marL="342900" indent="-342900">
              <a:spcAft>
                <a:spcPts val="600"/>
              </a:spcAft>
              <a:buFont typeface="Arial" panose="020B0604020202020204" pitchFamily="34" charset="0"/>
              <a:buChar char="•"/>
              <a:defRPr sz="1600" b="1">
                <a:solidFill>
                  <a:srgbClr val="008991"/>
                </a:solidFill>
                <a:latin typeface="Aptos"/>
              </a:defRPr>
            </a:pPr>
            <a:r>
              <a:rPr sz="2000" dirty="0"/>
              <a:t>B.</a:t>
            </a:r>
            <a:r>
              <a:rPr lang="en-US" sz="2000" dirty="0"/>
              <a:t> </a:t>
            </a:r>
            <a:r>
              <a:rPr sz="2000" dirty="0"/>
              <a:t>Tech | Fresher</a:t>
            </a:r>
          </a:p>
          <a:p>
            <a:pPr marL="342900" indent="-342900">
              <a:spcAft>
                <a:spcPts val="600"/>
              </a:spcAft>
              <a:buFont typeface="Arial" panose="020B0604020202020204" pitchFamily="34" charset="0"/>
              <a:buChar char="•"/>
              <a:defRPr sz="1500" b="1">
                <a:solidFill>
                  <a:srgbClr val="193152"/>
                </a:solidFill>
                <a:latin typeface="Aptos"/>
              </a:defRPr>
            </a:pPr>
            <a:r>
              <a:rPr lang="en-US" sz="2000" dirty="0"/>
              <a:t>Learning focus: Data Science and SQL</a:t>
            </a:r>
            <a:endParaRPr sz="2000" dirty="0"/>
          </a:p>
          <a:p>
            <a:pPr marL="342900" indent="-342900">
              <a:spcAft>
                <a:spcPts val="600"/>
              </a:spcAft>
              <a:buFont typeface="Arial" panose="020B0604020202020204" pitchFamily="34" charset="0"/>
              <a:buChar char="•"/>
              <a:defRPr sz="1400" b="0">
                <a:solidFill>
                  <a:srgbClr val="2D3741"/>
                </a:solidFill>
                <a:latin typeface="Aptos"/>
              </a:defRPr>
            </a:pPr>
            <a:r>
              <a:rPr sz="2000" dirty="0"/>
              <a:t>To turn data into meaningful insights and support better, data-driven decisions.</a:t>
            </a:r>
          </a:p>
          <a:p>
            <a:pPr marL="342900" indent="-342900">
              <a:spcAft>
                <a:spcPts val="600"/>
              </a:spcAft>
              <a:buFont typeface="Arial" panose="020B0604020202020204" pitchFamily="34" charset="0"/>
              <a:buChar char="•"/>
              <a:defRPr sz="1300" b="0">
                <a:solidFill>
                  <a:srgbClr val="2D3741"/>
                </a:solidFill>
                <a:latin typeface="Aptos"/>
              </a:defRPr>
            </a:pPr>
            <a:r>
              <a:rPr sz="2000" dirty="0"/>
              <a:t>Project role: Individual</a:t>
            </a:r>
            <a:endParaRPr lang="en-US" sz="2000" dirty="0"/>
          </a:p>
          <a:p>
            <a:pPr marL="342900" indent="-342900">
              <a:spcAft>
                <a:spcPts val="600"/>
              </a:spcAft>
              <a:buFont typeface="Arial" panose="020B0604020202020204" pitchFamily="34" charset="0"/>
              <a:buChar char="•"/>
              <a:defRPr sz="1300" b="0">
                <a:solidFill>
                  <a:srgbClr val="2D3741"/>
                </a:solidFill>
                <a:latin typeface="Aptos"/>
              </a:defRPr>
            </a:pPr>
            <a:r>
              <a:rPr lang="en-IN" sz="2000" b="1" dirty="0"/>
              <a:t>LinkedIn</a:t>
            </a:r>
            <a:r>
              <a:rPr lang="en-IN" sz="2000" dirty="0"/>
              <a:t> : </a:t>
            </a:r>
            <a:r>
              <a:rPr lang="en-IN" sz="2000" dirty="0">
                <a:solidFill>
                  <a:srgbClr val="2D3741"/>
                </a:solidFill>
                <a:latin typeface="Aptos"/>
                <a:hlinkClick r:id="rId3"/>
              </a:rPr>
              <a:t>C. DIVYA SRI | LinkedIn</a:t>
            </a:r>
            <a:endParaRPr lang="en-IN" sz="2000" dirty="0">
              <a:solidFill>
                <a:srgbClr val="2D3741"/>
              </a:solidFill>
              <a:latin typeface="Aptos"/>
            </a:endParaRPr>
          </a:p>
          <a:p>
            <a:pPr marL="342900" indent="-342900">
              <a:spcAft>
                <a:spcPts val="600"/>
              </a:spcAft>
              <a:buFont typeface="Arial" panose="020B0604020202020204" pitchFamily="34" charset="0"/>
              <a:buChar char="•"/>
              <a:defRPr sz="1300" b="0">
                <a:solidFill>
                  <a:srgbClr val="2D3741"/>
                </a:solidFill>
                <a:latin typeface="Aptos"/>
              </a:defRPr>
            </a:pPr>
            <a:r>
              <a:rPr lang="en-IN" sz="2000" b="1" dirty="0">
                <a:solidFill>
                  <a:srgbClr val="2D3741"/>
                </a:solidFill>
                <a:latin typeface="Aptos"/>
              </a:rPr>
              <a:t>Git hub </a:t>
            </a:r>
            <a:r>
              <a:rPr lang="en-IN" sz="2000" dirty="0">
                <a:solidFill>
                  <a:srgbClr val="2D3741"/>
                </a:solidFill>
                <a:latin typeface="Aptos"/>
              </a:rPr>
              <a:t>:</a:t>
            </a:r>
            <a:endParaRPr sz="2000" dirty="0"/>
          </a:p>
        </p:txBody>
      </p:sp>
      <p:sp>
        <p:nvSpPr>
          <p:cNvPr id="105" name="Google Shape;105;p3"/>
          <p:cNvSpPr txBox="1"/>
          <p:nvPr/>
        </p:nvSpPr>
        <p:spPr>
          <a:xfrm>
            <a:off x="2871960" y="1128331"/>
            <a:ext cx="4914248" cy="387758"/>
          </a:xfrm>
          <a:prstGeom prst="rect">
            <a:avLst/>
          </a:prstGeom>
          <a:noFill/>
          <a:ln>
            <a:noFill/>
          </a:ln>
        </p:spPr>
        <p:txBody>
          <a:bodyPr spcFirstLastPara="1" wrap="square" lIns="91425" tIns="45700" rIns="91425" bIns="45700" anchor="ctr" anchorCtr="0">
            <a:spAutoFit/>
          </a:bodyPr>
          <a:lstStyle/>
          <a:p>
            <a:pPr marL="0" marR="0" lvl="0" indent="0" algn="ctr" rtl="0">
              <a:lnSpc>
                <a:spcPct val="80000"/>
              </a:lnSpc>
              <a:spcBef>
                <a:spcPts val="0"/>
              </a:spcBef>
              <a:spcAft>
                <a:spcPts val="0"/>
              </a:spcAft>
              <a:buClr>
                <a:srgbClr val="FF0000"/>
              </a:buClr>
              <a:buSzPts val="3200"/>
              <a:buFont typeface="Lato Black"/>
              <a:buNone/>
              <a:defRPr sz="2500" b="1">
                <a:solidFill>
                  <a:srgbClr val="193152"/>
                </a:solidFill>
                <a:latin typeface="Aptos"/>
              </a:defRPr>
            </a:pPr>
            <a:r>
              <a:rPr sz="2400" dirty="0">
                <a:solidFill>
                  <a:srgbClr val="FF0000"/>
                </a:solidFill>
              </a:rPr>
              <a:t>About Me</a:t>
            </a:r>
            <a:endParaRPr sz="24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834189" y="0"/>
            <a:ext cx="10890386" cy="13439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defRPr sz="2600" b="1">
                <a:solidFill>
                  <a:srgbClr val="193152"/>
                </a:solidFill>
                <a:latin typeface="Aptos"/>
              </a:defRPr>
            </a:pPr>
            <a:r>
              <a:rPr dirty="0"/>
              <a:t>Table of Contents</a:t>
            </a:r>
            <a:endParaRPr b="1" dirty="0">
              <a:solidFill>
                <a:srgbClr val="FF0000"/>
              </a:solidFill>
            </a:endParaRPr>
          </a:p>
        </p:txBody>
      </p:sp>
      <p:sp>
        <p:nvSpPr>
          <p:cNvPr id="111" name="Google Shape;111;p4"/>
          <p:cNvSpPr txBox="1">
            <a:spLocks noGrp="1"/>
          </p:cNvSpPr>
          <p:nvPr>
            <p:ph type="body" idx="1"/>
          </p:nvPr>
        </p:nvSpPr>
        <p:spPr>
          <a:xfrm>
            <a:off x="684880" y="1171074"/>
            <a:ext cx="10515600" cy="4010526"/>
          </a:xfrm>
          <a:prstGeom prst="rect">
            <a:avLst/>
          </a:prstGeom>
          <a:noFill/>
          <a:ln>
            <a:noFill/>
          </a:ln>
        </p:spPr>
        <p:txBody>
          <a:bodyPr spcFirstLastPara="1" wrap="square" lIns="91425" tIns="45700" rIns="91425" bIns="45700" anchor="ctr" anchorCtr="0">
            <a:noAutofit/>
          </a:bodyPr>
          <a:lstStyle/>
          <a:p>
            <a:pPr marL="114300" indent="0">
              <a:lnSpc>
                <a:spcPct val="70000"/>
              </a:lnSpc>
              <a:buNone/>
              <a:defRPr sz="1700" b="0">
                <a:solidFill>
                  <a:srgbClr val="2D3741"/>
                </a:solidFill>
                <a:latin typeface="Aptos"/>
              </a:defRPr>
            </a:pPr>
            <a:r>
              <a:rPr lang="en-IN" sz="2400" dirty="0"/>
              <a:t>1.Project Overview</a:t>
            </a:r>
          </a:p>
          <a:p>
            <a:pPr marL="114300" indent="0">
              <a:lnSpc>
                <a:spcPct val="70000"/>
              </a:lnSpc>
              <a:buNone/>
              <a:defRPr sz="1700" b="0">
                <a:solidFill>
                  <a:srgbClr val="2D3741"/>
                </a:solidFill>
                <a:latin typeface="Aptos"/>
              </a:defRPr>
            </a:pPr>
            <a:r>
              <a:rPr lang="en-IN" sz="2400" dirty="0"/>
              <a:t>2. Business Scenario</a:t>
            </a:r>
          </a:p>
          <a:p>
            <a:pPr marL="114300" indent="0">
              <a:lnSpc>
                <a:spcPct val="70000"/>
              </a:lnSpc>
              <a:buNone/>
              <a:defRPr sz="1700" b="0">
                <a:solidFill>
                  <a:srgbClr val="2D3741"/>
                </a:solidFill>
                <a:latin typeface="Aptos"/>
              </a:defRPr>
            </a:pPr>
            <a:r>
              <a:rPr lang="en-US" sz="2400" dirty="0"/>
              <a:t>3. Business Objectives</a:t>
            </a:r>
          </a:p>
          <a:p>
            <a:pPr marL="114300" indent="0">
              <a:lnSpc>
                <a:spcPct val="70000"/>
              </a:lnSpc>
              <a:buNone/>
              <a:defRPr sz="1700" b="0">
                <a:solidFill>
                  <a:srgbClr val="2D3741"/>
                </a:solidFill>
                <a:latin typeface="Aptos"/>
              </a:defRPr>
            </a:pPr>
            <a:r>
              <a:rPr lang="en-US" sz="2400" dirty="0"/>
              <a:t>4. Dataset &amp; Database Overview</a:t>
            </a:r>
          </a:p>
          <a:p>
            <a:pPr marL="114300" indent="0">
              <a:lnSpc>
                <a:spcPct val="70000"/>
              </a:lnSpc>
              <a:buNone/>
              <a:defRPr sz="1700" b="0">
                <a:solidFill>
                  <a:srgbClr val="2D3741"/>
                </a:solidFill>
                <a:latin typeface="Aptos"/>
              </a:defRPr>
            </a:pPr>
            <a:r>
              <a:rPr lang="en-US" sz="2400" dirty="0"/>
              <a:t>5. ER Diagram &amp; Database Structure</a:t>
            </a:r>
          </a:p>
          <a:p>
            <a:pPr marL="114300" indent="0">
              <a:lnSpc>
                <a:spcPct val="70000"/>
              </a:lnSpc>
              <a:buNone/>
              <a:defRPr sz="1700" b="0">
                <a:solidFill>
                  <a:srgbClr val="2D3741"/>
                </a:solidFill>
                <a:latin typeface="Aptos"/>
              </a:defRPr>
            </a:pPr>
            <a:r>
              <a:rPr lang="en-US" sz="2400" dirty="0"/>
              <a:t>6. Analysis of the Objectives</a:t>
            </a:r>
          </a:p>
          <a:p>
            <a:pPr marL="114300" indent="0">
              <a:lnSpc>
                <a:spcPct val="70000"/>
              </a:lnSpc>
              <a:buNone/>
              <a:defRPr sz="1700" b="0">
                <a:solidFill>
                  <a:srgbClr val="2D3741"/>
                </a:solidFill>
                <a:latin typeface="Aptos"/>
              </a:defRPr>
            </a:pPr>
            <a:r>
              <a:rPr lang="en-US" sz="2400" dirty="0"/>
              <a:t>7. Overall Key Findings</a:t>
            </a:r>
          </a:p>
          <a:p>
            <a:pPr marL="114300" indent="0">
              <a:lnSpc>
                <a:spcPct val="70000"/>
              </a:lnSpc>
              <a:buNone/>
              <a:defRPr sz="1700" b="0">
                <a:solidFill>
                  <a:srgbClr val="2D3741"/>
                </a:solidFill>
                <a:latin typeface="Aptos"/>
              </a:defRPr>
            </a:pPr>
            <a:r>
              <a:rPr lang="en-US" sz="2400" dirty="0"/>
              <a:t>8. Business Recommendations</a:t>
            </a:r>
          </a:p>
          <a:p>
            <a:pPr marL="114300" indent="0">
              <a:lnSpc>
                <a:spcPct val="70000"/>
              </a:lnSpc>
              <a:buNone/>
              <a:defRPr sz="1700" b="0">
                <a:solidFill>
                  <a:srgbClr val="2D3741"/>
                </a:solidFill>
                <a:latin typeface="Aptos"/>
              </a:defRPr>
            </a:pPr>
            <a:r>
              <a:rPr lang="en-US" sz="2400" dirty="0"/>
              <a:t>9. Conclusion</a:t>
            </a:r>
          </a:p>
          <a:p>
            <a:pPr marL="114300" indent="0">
              <a:lnSpc>
                <a:spcPct val="70000"/>
              </a:lnSpc>
              <a:buNone/>
              <a:defRPr sz="1700" b="0">
                <a:solidFill>
                  <a:srgbClr val="2D3741"/>
                </a:solidFill>
                <a:latin typeface="Aptos"/>
              </a:defRPr>
            </a:pPr>
            <a:r>
              <a:rPr lang="en-US" sz="2400" dirty="0"/>
              <a:t>10. Q&amp;A</a:t>
            </a:r>
            <a:br>
              <a:rPr lang="en-US" sz="2400" dirty="0"/>
            </a:br>
            <a:endParaRPr sz="2253" b="1" dirty="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a:xfrm>
            <a:off x="0" y="0"/>
            <a:ext cx="12192000"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461391"/>
            <a:ext cx="11155680" cy="594360"/>
          </a:xfrm>
          <a:prstGeom prst="rect">
            <a:avLst/>
          </a:prstGeom>
          <a:noFill/>
        </p:spPr>
        <p:txBody>
          <a:bodyPr wrap="square" anchor="ctr">
            <a:spAutoFit/>
          </a:bodyPr>
          <a:lstStyle/>
          <a:p>
            <a:pPr>
              <a:defRPr sz="2600" b="1">
                <a:solidFill>
                  <a:srgbClr val="193152"/>
                </a:solidFill>
                <a:latin typeface="Aptos"/>
              </a:defRPr>
            </a:pPr>
            <a:r>
              <a:rPr dirty="0"/>
              <a:t>Project Overview</a:t>
            </a:r>
          </a:p>
        </p:txBody>
      </p:sp>
      <p:sp>
        <p:nvSpPr>
          <p:cNvPr id="11" name="TextBox 10"/>
          <p:cNvSpPr txBox="1"/>
          <p:nvPr/>
        </p:nvSpPr>
        <p:spPr>
          <a:xfrm>
            <a:off x="594360" y="6556936"/>
            <a:ext cx="10972800" cy="182880"/>
          </a:xfrm>
          <a:prstGeom prst="rect">
            <a:avLst/>
          </a:prstGeom>
          <a:noFill/>
        </p:spPr>
        <p:txBody>
          <a:bodyPr wrap="square" anchor="ctr">
            <a:spAutoFit/>
          </a:bodyPr>
          <a:lstStyle/>
          <a:p>
            <a:pPr>
              <a:defRPr sz="800" b="0">
                <a:solidFill>
                  <a:srgbClr val="5F6C78"/>
                </a:solidFill>
                <a:latin typeface="Aptos"/>
              </a:defRPr>
            </a:pPr>
            <a:r>
              <a:t>C. Divya Sri  |  Retail Supply Chain Analytics  |  4</a:t>
            </a:r>
          </a:p>
        </p:txBody>
      </p:sp>
      <p:sp>
        <p:nvSpPr>
          <p:cNvPr id="12" name="Rounded Rectangle 11"/>
          <p:cNvSpPr/>
          <p:nvPr/>
        </p:nvSpPr>
        <p:spPr>
          <a:xfrm>
            <a:off x="594360" y="1417320"/>
            <a:ext cx="3520440" cy="192024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94360" y="1417320"/>
            <a:ext cx="73152" cy="192024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1538288"/>
            <a:ext cx="3172969" cy="347472"/>
          </a:xfrm>
          <a:prstGeom prst="rect">
            <a:avLst/>
          </a:prstGeom>
          <a:noFill/>
        </p:spPr>
        <p:txBody>
          <a:bodyPr wrap="square" anchor="ctr">
            <a:spAutoFit/>
          </a:bodyPr>
          <a:lstStyle/>
          <a:p>
            <a:pPr>
              <a:defRPr sz="1600" b="1">
                <a:solidFill>
                  <a:srgbClr val="193152"/>
                </a:solidFill>
                <a:latin typeface="Aptos"/>
              </a:defRPr>
            </a:pPr>
            <a:r>
              <a:rPr dirty="0"/>
              <a:t>Project</a:t>
            </a:r>
          </a:p>
        </p:txBody>
      </p:sp>
      <p:sp>
        <p:nvSpPr>
          <p:cNvPr id="15" name="TextBox 14"/>
          <p:cNvSpPr txBox="1"/>
          <p:nvPr/>
        </p:nvSpPr>
        <p:spPr>
          <a:xfrm>
            <a:off x="758952" y="1892808"/>
            <a:ext cx="3246120" cy="580672"/>
          </a:xfrm>
          <a:prstGeom prst="rect">
            <a:avLst/>
          </a:prstGeom>
          <a:noFill/>
        </p:spPr>
        <p:txBody>
          <a:bodyPr wrap="square" lIns="18288" tIns="18288" rIns="27432" bIns="18288">
            <a:spAutoFit/>
          </a:bodyPr>
          <a:lstStyle/>
          <a:p>
            <a:pPr>
              <a:spcAft>
                <a:spcPts val="400"/>
              </a:spcAft>
              <a:defRPr sz="1600">
                <a:solidFill>
                  <a:srgbClr val="2D3741"/>
                </a:solidFill>
                <a:latin typeface="Aptos"/>
              </a:defRPr>
            </a:pPr>
            <a:r>
              <a:rPr lang="en-US" dirty="0"/>
              <a:t> </a:t>
            </a:r>
            <a:r>
              <a:rPr dirty="0"/>
              <a:t>Retail Supply Chain Analytics</a:t>
            </a:r>
          </a:p>
          <a:p>
            <a:pPr>
              <a:spcAft>
                <a:spcPts val="400"/>
              </a:spcAft>
              <a:defRPr sz="1600">
                <a:solidFill>
                  <a:srgbClr val="2D3741"/>
                </a:solidFill>
                <a:latin typeface="Aptos"/>
              </a:defRPr>
            </a:pPr>
            <a:r>
              <a:rPr lang="en-US" dirty="0"/>
              <a:t> </a:t>
            </a:r>
            <a:r>
              <a:rPr dirty="0"/>
              <a:t>Relational analysis using MySQL</a:t>
            </a:r>
          </a:p>
        </p:txBody>
      </p:sp>
      <p:sp>
        <p:nvSpPr>
          <p:cNvPr id="16" name="Rounded Rectangle 15"/>
          <p:cNvSpPr/>
          <p:nvPr/>
        </p:nvSpPr>
        <p:spPr>
          <a:xfrm>
            <a:off x="4343400" y="1417320"/>
            <a:ext cx="3520440" cy="192024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1417320"/>
            <a:ext cx="73152" cy="1920240"/>
          </a:xfrm>
          <a:prstGeom prst="rect">
            <a:avLst/>
          </a:prstGeom>
          <a:solidFill>
            <a:srgbClr val="266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16552" y="1531239"/>
            <a:ext cx="3264408" cy="347472"/>
          </a:xfrm>
          <a:prstGeom prst="rect">
            <a:avLst/>
          </a:prstGeom>
          <a:noFill/>
        </p:spPr>
        <p:txBody>
          <a:bodyPr wrap="square" anchor="ctr">
            <a:spAutoFit/>
          </a:bodyPr>
          <a:lstStyle/>
          <a:p>
            <a:pPr>
              <a:defRPr sz="1600" b="1">
                <a:solidFill>
                  <a:srgbClr val="193152"/>
                </a:solidFill>
                <a:latin typeface="Aptos"/>
              </a:defRPr>
            </a:pPr>
            <a:r>
              <a:rPr dirty="0"/>
              <a:t>Data</a:t>
            </a:r>
          </a:p>
        </p:txBody>
      </p:sp>
      <p:sp>
        <p:nvSpPr>
          <p:cNvPr id="19" name="TextBox 18"/>
          <p:cNvSpPr txBox="1"/>
          <p:nvPr/>
        </p:nvSpPr>
        <p:spPr>
          <a:xfrm>
            <a:off x="4507992" y="1892808"/>
            <a:ext cx="3246120" cy="1371600"/>
          </a:xfrm>
          <a:prstGeom prst="rect">
            <a:avLst/>
          </a:prstGeom>
          <a:noFill/>
        </p:spPr>
        <p:txBody>
          <a:bodyPr wrap="square" lIns="18288" tIns="18288" rIns="27432" bIns="18288">
            <a:spAutoFit/>
          </a:bodyPr>
          <a:lstStyle/>
          <a:p>
            <a:pPr>
              <a:spcAft>
                <a:spcPts val="400"/>
              </a:spcAft>
              <a:defRPr sz="1600">
                <a:solidFill>
                  <a:srgbClr val="2D3741"/>
                </a:solidFill>
                <a:latin typeface="Aptos"/>
              </a:defRPr>
            </a:pPr>
            <a:r>
              <a:rPr dirty="0"/>
              <a:t>6 CSV datasets</a:t>
            </a:r>
          </a:p>
          <a:p>
            <a:pPr>
              <a:spcAft>
                <a:spcPts val="400"/>
              </a:spcAft>
              <a:defRPr sz="1600">
                <a:solidFill>
                  <a:srgbClr val="2D3741"/>
                </a:solidFill>
                <a:latin typeface="Aptos"/>
              </a:defRPr>
            </a:pPr>
            <a:r>
              <a:rPr dirty="0"/>
              <a:t>11,190 total records across six tables</a:t>
            </a:r>
          </a:p>
        </p:txBody>
      </p:sp>
      <p:sp>
        <p:nvSpPr>
          <p:cNvPr id="20" name="Rounded Rectangle 19"/>
          <p:cNvSpPr/>
          <p:nvPr/>
        </p:nvSpPr>
        <p:spPr>
          <a:xfrm>
            <a:off x="8092440" y="1417320"/>
            <a:ext cx="3520440" cy="192024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92440" y="1417320"/>
            <a:ext cx="73152" cy="1920240"/>
          </a:xfrm>
          <a:prstGeom prst="rect">
            <a:avLst/>
          </a:prstGeom>
          <a:solidFill>
            <a:srgbClr val="E187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96072" y="1521751"/>
            <a:ext cx="3264408" cy="347472"/>
          </a:xfrm>
          <a:prstGeom prst="rect">
            <a:avLst/>
          </a:prstGeom>
          <a:noFill/>
        </p:spPr>
        <p:txBody>
          <a:bodyPr wrap="square" anchor="ctr">
            <a:spAutoFit/>
          </a:bodyPr>
          <a:lstStyle/>
          <a:p>
            <a:pPr>
              <a:defRPr sz="1600" b="1">
                <a:solidFill>
                  <a:srgbClr val="193152"/>
                </a:solidFill>
                <a:latin typeface="Aptos"/>
              </a:defRPr>
            </a:pPr>
            <a:r>
              <a:rPr dirty="0"/>
              <a:t>Approach</a:t>
            </a:r>
          </a:p>
        </p:txBody>
      </p:sp>
      <p:sp>
        <p:nvSpPr>
          <p:cNvPr id="23" name="TextBox 22"/>
          <p:cNvSpPr txBox="1"/>
          <p:nvPr/>
        </p:nvSpPr>
        <p:spPr>
          <a:xfrm>
            <a:off x="8257031" y="1892808"/>
            <a:ext cx="3246120" cy="1371600"/>
          </a:xfrm>
          <a:prstGeom prst="rect">
            <a:avLst/>
          </a:prstGeom>
          <a:noFill/>
        </p:spPr>
        <p:txBody>
          <a:bodyPr wrap="square" lIns="18288" tIns="18288" rIns="27432" bIns="18288">
            <a:spAutoFit/>
          </a:bodyPr>
          <a:lstStyle/>
          <a:p>
            <a:pPr>
              <a:spcAft>
                <a:spcPts val="400"/>
              </a:spcAft>
              <a:defRPr sz="1500">
                <a:solidFill>
                  <a:srgbClr val="2D3741"/>
                </a:solidFill>
                <a:latin typeface="Aptos"/>
              </a:defRPr>
            </a:pPr>
            <a:r>
              <a:t>Database design, data validation, joins, grouping, sorting, and aggregate functions</a:t>
            </a:r>
          </a:p>
        </p:txBody>
      </p:sp>
      <p:sp>
        <p:nvSpPr>
          <p:cNvPr id="24" name="TextBox 23"/>
          <p:cNvSpPr txBox="1"/>
          <p:nvPr/>
        </p:nvSpPr>
        <p:spPr>
          <a:xfrm>
            <a:off x="741352" y="3804592"/>
            <a:ext cx="10789920" cy="1463040"/>
          </a:xfrm>
          <a:prstGeom prst="rect">
            <a:avLst/>
          </a:prstGeom>
          <a:solidFill>
            <a:srgbClr val="EEF5FA"/>
          </a:solidFill>
          <a:ln>
            <a:noFill/>
          </a:ln>
        </p:spPr>
        <p:txBody>
          <a:bodyPr wrap="square" lIns="109728" tIns="109728" rIns="109728" bIns="109728" anchor="t">
            <a:spAutoFit/>
          </a:bodyPr>
          <a:lstStyle/>
          <a:p>
            <a:pPr>
              <a:spcAft>
                <a:spcPts val="500"/>
              </a:spcAft>
              <a:defRPr sz="1800" b="0">
                <a:solidFill>
                  <a:srgbClr val="2D3741"/>
                </a:solidFill>
                <a:latin typeface="Aptos"/>
              </a:defRPr>
            </a:pPr>
            <a:r>
              <a:t>Project aim: use structured data to understand warehouse ordering, supplier profiles, staff and vehicle activity, and shipment outcomes. The project uses existing records; it does not claim to predict future demand.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a:p>
        </p:txBody>
      </p:sp>
      <p:sp>
        <p:nvSpPr>
          <p:cNvPr id="5" name="Text Placeholder 4"/>
          <p:cNvSpPr>
            <a:spLocks noGrp="1"/>
          </p:cNvSpPr>
          <p:nvPr>
            <p:ph type="body" idx="3"/>
          </p:nvPr>
        </p:nvSpPr>
        <p:spPr/>
        <p:txBody>
          <a:bodyPr/>
          <a:lstStyle/>
          <a:p>
            <a:endParaRPr/>
          </a:p>
        </p:txBody>
      </p:sp>
      <p:sp>
        <p:nvSpPr>
          <p:cNvPr id="7" name="Rectangle 6"/>
          <p:cNvSpPr/>
          <p:nvPr/>
        </p:nvSpPr>
        <p:spPr>
          <a:xfrm>
            <a:off x="0" y="0"/>
            <a:ext cx="12192000"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489871"/>
            <a:ext cx="11155680" cy="492443"/>
          </a:xfrm>
          <a:prstGeom prst="rect">
            <a:avLst/>
          </a:prstGeom>
          <a:noFill/>
        </p:spPr>
        <p:txBody>
          <a:bodyPr wrap="square" anchor="ctr">
            <a:spAutoFit/>
          </a:bodyPr>
          <a:lstStyle/>
          <a:p>
            <a:pPr>
              <a:defRPr sz="2600" b="1">
                <a:solidFill>
                  <a:srgbClr val="193152"/>
                </a:solidFill>
                <a:latin typeface="Aptos"/>
              </a:defRPr>
            </a:pPr>
            <a:r>
              <a:rPr dirty="0"/>
              <a:t>Business Scenario</a:t>
            </a:r>
          </a:p>
        </p:txBody>
      </p:sp>
      <p:sp>
        <p:nvSpPr>
          <p:cNvPr id="11" name="TextBox 10"/>
          <p:cNvSpPr txBox="1"/>
          <p:nvPr/>
        </p:nvSpPr>
        <p:spPr>
          <a:xfrm>
            <a:off x="685800" y="6530822"/>
            <a:ext cx="10972800" cy="215444"/>
          </a:xfrm>
          <a:prstGeom prst="rect">
            <a:avLst/>
          </a:prstGeom>
          <a:noFill/>
        </p:spPr>
        <p:txBody>
          <a:bodyPr wrap="square" anchor="ctr">
            <a:spAutoFit/>
          </a:bodyPr>
          <a:lstStyle/>
          <a:p>
            <a:pPr>
              <a:defRPr sz="800" b="0">
                <a:solidFill>
                  <a:srgbClr val="5F6C78"/>
                </a:solidFill>
                <a:latin typeface="Aptos"/>
              </a:defRPr>
            </a:pPr>
            <a:r>
              <a:rPr dirty="0"/>
              <a:t>C. Divya Sri  |  Retail Supply Chain Analytics  |  5</a:t>
            </a:r>
          </a:p>
        </p:txBody>
      </p:sp>
      <p:sp>
        <p:nvSpPr>
          <p:cNvPr id="12" name="TextBox 11"/>
          <p:cNvSpPr txBox="1"/>
          <p:nvPr/>
        </p:nvSpPr>
        <p:spPr>
          <a:xfrm>
            <a:off x="685800" y="1325880"/>
            <a:ext cx="10789920" cy="1734834"/>
          </a:xfrm>
          <a:prstGeom prst="rect">
            <a:avLst/>
          </a:prstGeom>
          <a:solidFill>
            <a:srgbClr val="F7F9FB"/>
          </a:solidFill>
          <a:ln>
            <a:noFill/>
          </a:ln>
        </p:spPr>
        <p:txBody>
          <a:bodyPr wrap="square" lIns="109728" tIns="109728" rIns="109728" bIns="109728" anchor="t">
            <a:spAutoFit/>
          </a:bodyPr>
          <a:lstStyle/>
          <a:p>
            <a:pPr>
              <a:spcAft>
                <a:spcPts val="500"/>
              </a:spcAft>
              <a:defRPr sz="1800" b="0">
                <a:solidFill>
                  <a:srgbClr val="2D3741"/>
                </a:solidFill>
                <a:latin typeface="Aptos"/>
              </a:defRPr>
            </a:pPr>
            <a:r>
              <a:rPr dirty="0"/>
              <a:t>A retail supply chain coordinates warehouses, suppliers, purchase orders, staff, vehicles, and shipments. These activities create related records across several tables.</a:t>
            </a:r>
          </a:p>
          <a:p>
            <a:pPr>
              <a:spcAft>
                <a:spcPts val="500"/>
              </a:spcAft>
              <a:defRPr sz="1800" b="0">
                <a:solidFill>
                  <a:srgbClr val="2D3741"/>
                </a:solidFill>
                <a:latin typeface="Aptos"/>
              </a:defRPr>
            </a:pPr>
            <a:endParaRPr dirty="0"/>
          </a:p>
          <a:p>
            <a:pPr>
              <a:spcAft>
                <a:spcPts val="500"/>
              </a:spcAft>
              <a:defRPr sz="1800" b="0">
                <a:solidFill>
                  <a:srgbClr val="2D3741"/>
                </a:solidFill>
                <a:latin typeface="Aptos"/>
              </a:defRPr>
            </a:pPr>
            <a:r>
              <a:rPr dirty="0"/>
              <a:t>The business challenge is to bring those records together and summarize ordering and delivery activity so that operations can be reviewed consistently.</a:t>
            </a:r>
          </a:p>
        </p:txBody>
      </p:sp>
      <p:sp>
        <p:nvSpPr>
          <p:cNvPr id="13" name="Rounded Rectangle 12"/>
          <p:cNvSpPr/>
          <p:nvPr/>
        </p:nvSpPr>
        <p:spPr>
          <a:xfrm>
            <a:off x="731520" y="3657600"/>
            <a:ext cx="3429000" cy="146304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3657600"/>
            <a:ext cx="73152" cy="146304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9788" y="3749039"/>
            <a:ext cx="3172968" cy="347472"/>
          </a:xfrm>
          <a:prstGeom prst="rect">
            <a:avLst/>
          </a:prstGeom>
          <a:noFill/>
        </p:spPr>
        <p:txBody>
          <a:bodyPr wrap="square" anchor="ctr">
            <a:spAutoFit/>
          </a:bodyPr>
          <a:lstStyle/>
          <a:p>
            <a:pPr>
              <a:defRPr sz="1600" b="1">
                <a:solidFill>
                  <a:srgbClr val="193152"/>
                </a:solidFill>
                <a:latin typeface="Aptos"/>
              </a:defRPr>
            </a:pPr>
            <a:r>
              <a:rPr dirty="0"/>
              <a:t>Warehouse view</a:t>
            </a:r>
          </a:p>
        </p:txBody>
      </p:sp>
      <p:sp>
        <p:nvSpPr>
          <p:cNvPr id="16" name="TextBox 15"/>
          <p:cNvSpPr txBox="1"/>
          <p:nvPr/>
        </p:nvSpPr>
        <p:spPr>
          <a:xfrm>
            <a:off x="896112" y="4133087"/>
            <a:ext cx="3154680" cy="267766"/>
          </a:xfrm>
          <a:prstGeom prst="rect">
            <a:avLst/>
          </a:prstGeom>
          <a:noFill/>
        </p:spPr>
        <p:txBody>
          <a:bodyPr wrap="square" lIns="18288" tIns="18288" rIns="27432" bIns="18288">
            <a:spAutoFit/>
          </a:bodyPr>
          <a:lstStyle/>
          <a:p>
            <a:pPr>
              <a:spcAft>
                <a:spcPts val="400"/>
              </a:spcAft>
              <a:defRPr sz="1500">
                <a:solidFill>
                  <a:srgbClr val="2D3741"/>
                </a:solidFill>
                <a:latin typeface="Aptos"/>
              </a:defRPr>
            </a:pPr>
            <a:r>
              <a:t>Order volumes and purchasing costs</a:t>
            </a:r>
          </a:p>
        </p:txBody>
      </p:sp>
      <p:sp>
        <p:nvSpPr>
          <p:cNvPr id="17" name="Rounded Rectangle 16"/>
          <p:cNvSpPr/>
          <p:nvPr/>
        </p:nvSpPr>
        <p:spPr>
          <a:xfrm>
            <a:off x="4389120" y="3657600"/>
            <a:ext cx="3429000" cy="146304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89120" y="3657600"/>
            <a:ext cx="73152" cy="1463040"/>
          </a:xfrm>
          <a:prstGeom prst="rect">
            <a:avLst/>
          </a:prstGeom>
          <a:solidFill>
            <a:srgbClr val="266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94276" y="3749039"/>
            <a:ext cx="3172968" cy="347472"/>
          </a:xfrm>
          <a:prstGeom prst="rect">
            <a:avLst/>
          </a:prstGeom>
          <a:noFill/>
        </p:spPr>
        <p:txBody>
          <a:bodyPr wrap="square" anchor="ctr">
            <a:spAutoFit/>
          </a:bodyPr>
          <a:lstStyle/>
          <a:p>
            <a:pPr>
              <a:defRPr sz="1600" b="1">
                <a:solidFill>
                  <a:srgbClr val="193152"/>
                </a:solidFill>
                <a:latin typeface="Aptos"/>
              </a:defRPr>
            </a:pPr>
            <a:r>
              <a:rPr dirty="0"/>
              <a:t>Supplier view</a:t>
            </a:r>
          </a:p>
        </p:txBody>
      </p:sp>
      <p:sp>
        <p:nvSpPr>
          <p:cNvPr id="20" name="TextBox 19"/>
          <p:cNvSpPr txBox="1"/>
          <p:nvPr/>
        </p:nvSpPr>
        <p:spPr>
          <a:xfrm>
            <a:off x="4553712" y="4133087"/>
            <a:ext cx="3154680" cy="498598"/>
          </a:xfrm>
          <a:prstGeom prst="rect">
            <a:avLst/>
          </a:prstGeom>
          <a:noFill/>
        </p:spPr>
        <p:txBody>
          <a:bodyPr wrap="square" lIns="18288" tIns="18288" rIns="27432" bIns="18288">
            <a:spAutoFit/>
          </a:bodyPr>
          <a:lstStyle/>
          <a:p>
            <a:pPr>
              <a:spcAft>
                <a:spcPts val="400"/>
              </a:spcAft>
              <a:defRPr sz="1500">
                <a:solidFill>
                  <a:srgbClr val="2D3741"/>
                </a:solidFill>
                <a:latin typeface="Aptos"/>
              </a:defRPr>
            </a:pPr>
            <a:r>
              <a:t>Supplier categories and reliability ratings</a:t>
            </a:r>
          </a:p>
        </p:txBody>
      </p:sp>
      <p:sp>
        <p:nvSpPr>
          <p:cNvPr id="21" name="Rounded Rectangle 20"/>
          <p:cNvSpPr/>
          <p:nvPr/>
        </p:nvSpPr>
        <p:spPr>
          <a:xfrm>
            <a:off x="8046720" y="3657600"/>
            <a:ext cx="3429000" cy="146304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46720" y="3657600"/>
            <a:ext cx="73152" cy="1463040"/>
          </a:xfrm>
          <a:prstGeom prst="rect">
            <a:avLst/>
          </a:prstGeom>
          <a:solidFill>
            <a:srgbClr val="E187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19872" y="3749039"/>
            <a:ext cx="3172968" cy="347472"/>
          </a:xfrm>
          <a:prstGeom prst="rect">
            <a:avLst/>
          </a:prstGeom>
          <a:noFill/>
        </p:spPr>
        <p:txBody>
          <a:bodyPr wrap="square" anchor="ctr">
            <a:spAutoFit/>
          </a:bodyPr>
          <a:lstStyle/>
          <a:p>
            <a:pPr>
              <a:defRPr sz="1600" b="1">
                <a:solidFill>
                  <a:srgbClr val="193152"/>
                </a:solidFill>
                <a:latin typeface="Aptos"/>
              </a:defRPr>
            </a:pPr>
            <a:r>
              <a:rPr dirty="0"/>
              <a:t>Shipment view</a:t>
            </a:r>
          </a:p>
        </p:txBody>
      </p:sp>
      <p:sp>
        <p:nvSpPr>
          <p:cNvPr id="24" name="TextBox 23"/>
          <p:cNvSpPr txBox="1"/>
          <p:nvPr/>
        </p:nvSpPr>
        <p:spPr>
          <a:xfrm>
            <a:off x="8211312" y="4133087"/>
            <a:ext cx="3154680" cy="498598"/>
          </a:xfrm>
          <a:prstGeom prst="rect">
            <a:avLst/>
          </a:prstGeom>
          <a:noFill/>
        </p:spPr>
        <p:txBody>
          <a:bodyPr wrap="square" lIns="18288" tIns="18288" rIns="27432" bIns="18288">
            <a:spAutoFit/>
          </a:bodyPr>
          <a:lstStyle/>
          <a:p>
            <a:pPr>
              <a:spcAft>
                <a:spcPts val="400"/>
              </a:spcAft>
              <a:defRPr sz="1500">
                <a:solidFill>
                  <a:srgbClr val="2D3741"/>
                </a:solidFill>
                <a:latin typeface="Aptos"/>
              </a:defRPr>
            </a:pPr>
            <a:r>
              <a:t>Status, attempts, distance, and transit duration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a:xfrm>
            <a:off x="0" y="0"/>
            <a:ext cx="12192000"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473202"/>
            <a:ext cx="11155680" cy="594360"/>
          </a:xfrm>
          <a:prstGeom prst="rect">
            <a:avLst/>
          </a:prstGeom>
          <a:noFill/>
        </p:spPr>
        <p:txBody>
          <a:bodyPr wrap="square" anchor="ctr">
            <a:spAutoFit/>
          </a:bodyPr>
          <a:lstStyle/>
          <a:p>
            <a:pPr>
              <a:defRPr sz="2600" b="1">
                <a:solidFill>
                  <a:srgbClr val="193152"/>
                </a:solidFill>
                <a:latin typeface="Aptos"/>
              </a:defRPr>
            </a:pPr>
            <a:r>
              <a:rPr dirty="0"/>
              <a:t>Business Objectives</a:t>
            </a:r>
          </a:p>
        </p:txBody>
      </p:sp>
      <p:sp>
        <p:nvSpPr>
          <p:cNvPr id="11" name="TextBox 10"/>
          <p:cNvSpPr txBox="1"/>
          <p:nvPr/>
        </p:nvSpPr>
        <p:spPr>
          <a:xfrm>
            <a:off x="707332" y="6556937"/>
            <a:ext cx="10972800" cy="182880"/>
          </a:xfrm>
          <a:prstGeom prst="rect">
            <a:avLst/>
          </a:prstGeom>
          <a:noFill/>
        </p:spPr>
        <p:txBody>
          <a:bodyPr wrap="square" anchor="ctr">
            <a:spAutoFit/>
          </a:bodyPr>
          <a:lstStyle/>
          <a:p>
            <a:pPr>
              <a:defRPr sz="800" b="0">
                <a:solidFill>
                  <a:srgbClr val="5F6C78"/>
                </a:solidFill>
                <a:latin typeface="Aptos"/>
              </a:defRPr>
            </a:pPr>
            <a:r>
              <a:t>C. Divya Sri  |  Retail Supply Chain Analytics  |  6</a:t>
            </a:r>
          </a:p>
        </p:txBody>
      </p:sp>
      <p:sp>
        <p:nvSpPr>
          <p:cNvPr id="12" name="Rounded Rectangle 11"/>
          <p:cNvSpPr/>
          <p:nvPr/>
        </p:nvSpPr>
        <p:spPr>
          <a:xfrm>
            <a:off x="777240" y="1280160"/>
            <a:ext cx="10607040" cy="749808"/>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7240" y="1280160"/>
            <a:ext cx="73152" cy="749808"/>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41832" y="1376059"/>
            <a:ext cx="10351008" cy="338554"/>
          </a:xfrm>
          <a:prstGeom prst="rect">
            <a:avLst/>
          </a:prstGeom>
          <a:noFill/>
        </p:spPr>
        <p:txBody>
          <a:bodyPr wrap="square" anchor="ctr">
            <a:spAutoFit/>
          </a:bodyPr>
          <a:lstStyle/>
          <a:p>
            <a:pPr>
              <a:defRPr sz="1600" b="1">
                <a:solidFill>
                  <a:srgbClr val="193152"/>
                </a:solidFill>
                <a:latin typeface="Aptos"/>
              </a:defRPr>
            </a:pPr>
            <a:r>
              <a:rPr lang="en-IN" sz="1600" b="1" dirty="0">
                <a:solidFill>
                  <a:srgbClr val="18304E"/>
                </a:solidFill>
                <a:latin typeface="Aptos"/>
              </a:rPr>
              <a:t>01  Purchase Order Demand</a:t>
            </a:r>
          </a:p>
        </p:txBody>
      </p:sp>
      <p:sp>
        <p:nvSpPr>
          <p:cNvPr id="15" name="TextBox 14"/>
          <p:cNvSpPr txBox="1"/>
          <p:nvPr/>
        </p:nvSpPr>
        <p:spPr>
          <a:xfrm>
            <a:off x="941832" y="1755648"/>
            <a:ext cx="10332719" cy="236988"/>
          </a:xfrm>
          <a:prstGeom prst="rect">
            <a:avLst/>
          </a:prstGeom>
          <a:noFill/>
        </p:spPr>
        <p:txBody>
          <a:bodyPr wrap="square" lIns="18288" tIns="18288" rIns="27432" bIns="18288">
            <a:spAutoFit/>
          </a:bodyPr>
          <a:lstStyle/>
          <a:p>
            <a:pPr>
              <a:spcAft>
                <a:spcPts val="400"/>
              </a:spcAft>
            </a:pPr>
            <a:r>
              <a:rPr lang="en-US" sz="1300" dirty="0">
                <a:solidFill>
                  <a:srgbClr val="2A333F"/>
                </a:solidFill>
                <a:latin typeface="Aptos"/>
              </a:rPr>
              <a:t>   Compare orders across warehouses, suppliers, supplier categories, priorities, dates, and product categories.</a:t>
            </a:r>
          </a:p>
        </p:txBody>
      </p:sp>
      <p:sp>
        <p:nvSpPr>
          <p:cNvPr id="16" name="Rounded Rectangle 15"/>
          <p:cNvSpPr/>
          <p:nvPr/>
        </p:nvSpPr>
        <p:spPr>
          <a:xfrm>
            <a:off x="777240" y="2212848"/>
            <a:ext cx="10607040" cy="749808"/>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77240" y="2212848"/>
            <a:ext cx="73152" cy="749808"/>
          </a:xfrm>
          <a:prstGeom prst="rect">
            <a:avLst/>
          </a:prstGeom>
          <a:solidFill>
            <a:srgbClr val="266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1832" y="2308747"/>
            <a:ext cx="10351008" cy="338554"/>
          </a:xfrm>
          <a:prstGeom prst="rect">
            <a:avLst/>
          </a:prstGeom>
          <a:noFill/>
        </p:spPr>
        <p:txBody>
          <a:bodyPr wrap="square" anchor="ctr">
            <a:spAutoFit/>
          </a:bodyPr>
          <a:lstStyle/>
          <a:p>
            <a:pPr>
              <a:spcAft>
                <a:spcPts val="400"/>
              </a:spcAft>
            </a:pPr>
            <a:r>
              <a:rPr lang="en-IN" sz="1600" b="1" dirty="0">
                <a:solidFill>
                  <a:srgbClr val="18304E"/>
                </a:solidFill>
                <a:latin typeface="Aptos"/>
              </a:rPr>
              <a:t>02  Warehouse Ordering Behaviour</a:t>
            </a:r>
          </a:p>
        </p:txBody>
      </p:sp>
      <p:sp>
        <p:nvSpPr>
          <p:cNvPr id="19" name="TextBox 18"/>
          <p:cNvSpPr txBox="1"/>
          <p:nvPr/>
        </p:nvSpPr>
        <p:spPr>
          <a:xfrm>
            <a:off x="941832" y="2688336"/>
            <a:ext cx="10332719" cy="236988"/>
          </a:xfrm>
          <a:prstGeom prst="rect">
            <a:avLst/>
          </a:prstGeom>
          <a:noFill/>
        </p:spPr>
        <p:txBody>
          <a:bodyPr wrap="square" lIns="18288" tIns="18288" rIns="27432" bIns="18288">
            <a:spAutoFit/>
          </a:bodyPr>
          <a:lstStyle/>
          <a:p>
            <a:pPr>
              <a:spcAft>
                <a:spcPts val="400"/>
              </a:spcAft>
            </a:pPr>
            <a:r>
              <a:rPr lang="en-US" sz="1300" dirty="0">
                <a:solidFill>
                  <a:srgbClr val="2A333F"/>
                </a:solidFill>
                <a:latin typeface="Aptos"/>
              </a:rPr>
              <a:t>  Compare order counts and total order costs across warehouses, regions, warehouse types, and time.</a:t>
            </a:r>
          </a:p>
        </p:txBody>
      </p:sp>
      <p:sp>
        <p:nvSpPr>
          <p:cNvPr id="20" name="Rounded Rectangle 19"/>
          <p:cNvSpPr/>
          <p:nvPr/>
        </p:nvSpPr>
        <p:spPr>
          <a:xfrm>
            <a:off x="777240" y="3145536"/>
            <a:ext cx="10607040" cy="749808"/>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77240" y="3145536"/>
            <a:ext cx="73152" cy="749808"/>
          </a:xfrm>
          <a:prstGeom prst="rect">
            <a:avLst/>
          </a:prstGeom>
          <a:solidFill>
            <a:srgbClr val="E187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1832" y="3241435"/>
            <a:ext cx="10351008" cy="338554"/>
          </a:xfrm>
          <a:prstGeom prst="rect">
            <a:avLst/>
          </a:prstGeom>
          <a:noFill/>
        </p:spPr>
        <p:txBody>
          <a:bodyPr wrap="square" anchor="ctr">
            <a:spAutoFit/>
          </a:bodyPr>
          <a:lstStyle/>
          <a:p>
            <a:pPr>
              <a:spcAft>
                <a:spcPts val="400"/>
              </a:spcAft>
            </a:pPr>
            <a:r>
              <a:rPr lang="en-IN" sz="1600" b="1" dirty="0">
                <a:solidFill>
                  <a:srgbClr val="18304E"/>
                </a:solidFill>
                <a:latin typeface="Aptos"/>
              </a:rPr>
              <a:t>03  Shipment Performance</a:t>
            </a:r>
          </a:p>
        </p:txBody>
      </p:sp>
      <p:sp>
        <p:nvSpPr>
          <p:cNvPr id="23" name="TextBox 22"/>
          <p:cNvSpPr txBox="1"/>
          <p:nvPr/>
        </p:nvSpPr>
        <p:spPr>
          <a:xfrm>
            <a:off x="941832" y="3621024"/>
            <a:ext cx="10332719" cy="236988"/>
          </a:xfrm>
          <a:prstGeom prst="rect">
            <a:avLst/>
          </a:prstGeom>
          <a:noFill/>
        </p:spPr>
        <p:txBody>
          <a:bodyPr wrap="square" lIns="18288" tIns="18288" rIns="27432" bIns="18288">
            <a:spAutoFit/>
          </a:bodyPr>
          <a:lstStyle/>
          <a:p>
            <a:pPr>
              <a:spcAft>
                <a:spcPts val="400"/>
              </a:spcAft>
            </a:pPr>
            <a:r>
              <a:rPr lang="en-US" sz="1300" dirty="0">
                <a:solidFill>
                  <a:srgbClr val="2A333F"/>
                </a:solidFill>
                <a:latin typeface="Aptos"/>
              </a:rPr>
              <a:t>   Examine shipment status and transit duration; compare outcomes by supplier, warehouse, and time.</a:t>
            </a:r>
          </a:p>
        </p:txBody>
      </p:sp>
      <p:sp>
        <p:nvSpPr>
          <p:cNvPr id="24" name="Rounded Rectangle 23"/>
          <p:cNvSpPr/>
          <p:nvPr/>
        </p:nvSpPr>
        <p:spPr>
          <a:xfrm>
            <a:off x="777240" y="4078224"/>
            <a:ext cx="10607040" cy="749808"/>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77240" y="4078224"/>
            <a:ext cx="73152" cy="749808"/>
          </a:xfrm>
          <a:prstGeom prst="rect">
            <a:avLst/>
          </a:prstGeom>
          <a:solidFill>
            <a:srgbClr val="2A82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41832" y="4174122"/>
            <a:ext cx="10351008" cy="338554"/>
          </a:xfrm>
          <a:prstGeom prst="rect">
            <a:avLst/>
          </a:prstGeom>
          <a:noFill/>
        </p:spPr>
        <p:txBody>
          <a:bodyPr wrap="square" anchor="ctr">
            <a:spAutoFit/>
          </a:bodyPr>
          <a:lstStyle/>
          <a:p>
            <a:pPr>
              <a:spcAft>
                <a:spcPts val="400"/>
              </a:spcAft>
            </a:pPr>
            <a:r>
              <a:rPr lang="en-IN" sz="1600" b="1" dirty="0">
                <a:solidFill>
                  <a:srgbClr val="18304E"/>
                </a:solidFill>
                <a:latin typeface="Aptos"/>
              </a:rPr>
              <a:t>04  Staff &amp; Vehicle Performance</a:t>
            </a:r>
          </a:p>
        </p:txBody>
      </p:sp>
      <p:sp>
        <p:nvSpPr>
          <p:cNvPr id="27" name="TextBox 26"/>
          <p:cNvSpPr txBox="1"/>
          <p:nvPr/>
        </p:nvSpPr>
        <p:spPr>
          <a:xfrm>
            <a:off x="941832" y="4553712"/>
            <a:ext cx="10332719" cy="236988"/>
          </a:xfrm>
          <a:prstGeom prst="rect">
            <a:avLst/>
          </a:prstGeom>
          <a:noFill/>
        </p:spPr>
        <p:txBody>
          <a:bodyPr wrap="square" lIns="18288" tIns="18288" rIns="27432" bIns="18288">
            <a:spAutoFit/>
          </a:bodyPr>
          <a:lstStyle/>
          <a:p>
            <a:pPr>
              <a:spcAft>
                <a:spcPts val="400"/>
              </a:spcAft>
            </a:pPr>
            <a:r>
              <a:rPr lang="en-US" sz="1300" dirty="0">
                <a:solidFill>
                  <a:srgbClr val="2A333F"/>
                </a:solidFill>
                <a:latin typeface="Aptos"/>
              </a:rPr>
              <a:t>  Understand shipment workload by staff, staff ratings, vehicle type, vehicle usage, and transit duration.</a:t>
            </a:r>
          </a:p>
        </p:txBody>
      </p:sp>
      <p:sp>
        <p:nvSpPr>
          <p:cNvPr id="28" name="Rounded Rectangle 27"/>
          <p:cNvSpPr/>
          <p:nvPr/>
        </p:nvSpPr>
        <p:spPr>
          <a:xfrm>
            <a:off x="777240" y="5010912"/>
            <a:ext cx="10607040" cy="749808"/>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77240" y="5010912"/>
            <a:ext cx="73152" cy="749808"/>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41832" y="5106811"/>
            <a:ext cx="10351008" cy="338554"/>
          </a:xfrm>
          <a:prstGeom prst="rect">
            <a:avLst/>
          </a:prstGeom>
          <a:noFill/>
        </p:spPr>
        <p:txBody>
          <a:bodyPr wrap="square" anchor="ctr">
            <a:spAutoFit/>
          </a:bodyPr>
          <a:lstStyle/>
          <a:p>
            <a:pPr>
              <a:spcAft>
                <a:spcPts val="400"/>
              </a:spcAft>
            </a:pPr>
            <a:r>
              <a:rPr lang="en-IN" sz="1600" b="1" dirty="0">
                <a:solidFill>
                  <a:srgbClr val="18304E"/>
                </a:solidFill>
                <a:latin typeface="Aptos"/>
              </a:rPr>
              <a:t>05  Shipment Problems</a:t>
            </a:r>
          </a:p>
        </p:txBody>
      </p:sp>
      <p:sp>
        <p:nvSpPr>
          <p:cNvPr id="31" name="TextBox 30"/>
          <p:cNvSpPr txBox="1"/>
          <p:nvPr/>
        </p:nvSpPr>
        <p:spPr>
          <a:xfrm>
            <a:off x="941832" y="5486400"/>
            <a:ext cx="10332719" cy="236988"/>
          </a:xfrm>
          <a:prstGeom prst="rect">
            <a:avLst/>
          </a:prstGeom>
          <a:noFill/>
        </p:spPr>
        <p:txBody>
          <a:bodyPr wrap="square" lIns="18288" tIns="18288" rIns="27432" bIns="18288">
            <a:spAutoFit/>
          </a:bodyPr>
          <a:lstStyle/>
          <a:p>
            <a:pPr>
              <a:spcAft>
                <a:spcPts val="400"/>
              </a:spcAft>
            </a:pPr>
            <a:r>
              <a:rPr lang="en-US" sz="1300" dirty="0">
                <a:solidFill>
                  <a:srgbClr val="2A333F"/>
                </a:solidFill>
                <a:latin typeface="Aptos"/>
              </a:rPr>
              <a:t>   Investigate multiple shipment attempts, status patterns, and possible differences by warehouse or supplier.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a:xfrm>
            <a:off x="0" y="0"/>
            <a:ext cx="12192000"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8744" y="675626"/>
            <a:ext cx="11155680" cy="492443"/>
          </a:xfrm>
          <a:prstGeom prst="rect">
            <a:avLst/>
          </a:prstGeom>
          <a:noFill/>
        </p:spPr>
        <p:txBody>
          <a:bodyPr wrap="square" anchor="ctr">
            <a:spAutoFit/>
          </a:bodyPr>
          <a:lstStyle/>
          <a:p>
            <a:pPr>
              <a:defRPr sz="2600" b="1">
                <a:solidFill>
                  <a:srgbClr val="193152"/>
                </a:solidFill>
                <a:latin typeface="Aptos"/>
              </a:defRPr>
            </a:pPr>
            <a:r>
              <a:rPr lang="en-US" dirty="0"/>
              <a:t> </a:t>
            </a:r>
            <a:r>
              <a:rPr dirty="0"/>
              <a:t>Dataset &amp; Database Overview</a:t>
            </a:r>
          </a:p>
        </p:txBody>
      </p:sp>
      <p:sp>
        <p:nvSpPr>
          <p:cNvPr id="11" name="TextBox 10"/>
          <p:cNvSpPr txBox="1"/>
          <p:nvPr/>
        </p:nvSpPr>
        <p:spPr>
          <a:xfrm>
            <a:off x="540184" y="6547104"/>
            <a:ext cx="10972800" cy="182880"/>
          </a:xfrm>
          <a:prstGeom prst="rect">
            <a:avLst/>
          </a:prstGeom>
          <a:noFill/>
        </p:spPr>
        <p:txBody>
          <a:bodyPr wrap="square" anchor="ctr">
            <a:spAutoFit/>
          </a:bodyPr>
          <a:lstStyle/>
          <a:p>
            <a:pPr>
              <a:defRPr sz="800" b="0">
                <a:solidFill>
                  <a:srgbClr val="5F6C78"/>
                </a:solidFill>
                <a:latin typeface="Aptos"/>
              </a:defRPr>
            </a:pPr>
            <a:r>
              <a:t>C. Divya Sri  |  Retail Supply Chain Analytics  |  7</a:t>
            </a:r>
          </a:p>
        </p:txBody>
      </p:sp>
      <p:sp>
        <p:nvSpPr>
          <p:cNvPr id="13" name="TextBox 12"/>
          <p:cNvSpPr txBox="1"/>
          <p:nvPr/>
        </p:nvSpPr>
        <p:spPr>
          <a:xfrm>
            <a:off x="685800" y="5760720"/>
            <a:ext cx="10515600" cy="421654"/>
          </a:xfrm>
          <a:prstGeom prst="rect">
            <a:avLst/>
          </a:prstGeom>
          <a:noFill/>
          <a:ln>
            <a:noFill/>
          </a:ln>
        </p:spPr>
        <p:txBody>
          <a:bodyPr wrap="square" lIns="109728" tIns="109728" rIns="109728" bIns="109728" anchor="t">
            <a:spAutoFit/>
          </a:bodyPr>
          <a:lstStyle/>
          <a:p>
            <a:pPr>
              <a:spcAft>
                <a:spcPts val="500"/>
              </a:spcAft>
              <a:defRPr sz="1300" b="1">
                <a:solidFill>
                  <a:srgbClr val="008991"/>
                </a:solidFill>
                <a:latin typeface="Aptos"/>
              </a:defRPr>
            </a:pPr>
            <a:r>
              <a:rPr dirty="0"/>
              <a:t>Total: 11,190 records. Primary keys identify individual rows; foreign keys connect related records.</a:t>
            </a:r>
          </a:p>
        </p:txBody>
      </p:sp>
      <p:graphicFrame>
        <p:nvGraphicFramePr>
          <p:cNvPr id="4" name="Table 3">
            <a:extLst>
              <a:ext uri="{FF2B5EF4-FFF2-40B4-BE49-F238E27FC236}">
                <a16:creationId xmlns:a16="http://schemas.microsoft.com/office/drawing/2014/main" id="{876BDF41-8FCF-7E9D-AC44-586DF9567FE8}"/>
              </a:ext>
            </a:extLst>
          </p:cNvPr>
          <p:cNvGraphicFramePr>
            <a:graphicFrameLocks noGrp="1"/>
          </p:cNvGraphicFramePr>
          <p:nvPr/>
        </p:nvGraphicFramePr>
        <p:xfrm>
          <a:off x="594360" y="1417320"/>
          <a:ext cx="11018520" cy="429768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6720840">
                  <a:extLst>
                    <a:ext uri="{9D8B030D-6E8A-4147-A177-3AD203B41FA5}">
                      <a16:colId xmlns:a16="http://schemas.microsoft.com/office/drawing/2014/main" val="20003"/>
                    </a:ext>
                  </a:extLst>
                </a:gridCol>
              </a:tblGrid>
              <a:tr h="613954">
                <a:tc>
                  <a:txBody>
                    <a:bodyPr/>
                    <a:lstStyle/>
                    <a:p>
                      <a:r>
                        <a:rPr sz="1300" b="1">
                          <a:solidFill>
                            <a:srgbClr val="FFFFFF"/>
                          </a:solidFill>
                          <a:latin typeface="Aptos"/>
                        </a:rPr>
                        <a:t>Table</a:t>
                      </a:r>
                    </a:p>
                  </a:txBody>
                  <a:tcPr>
                    <a:solidFill>
                      <a:srgbClr val="18304E"/>
                    </a:solidFill>
                  </a:tcPr>
                </a:tc>
                <a:tc>
                  <a:txBody>
                    <a:bodyPr/>
                    <a:lstStyle/>
                    <a:p>
                      <a:r>
                        <a:rPr sz="1300" b="1">
                          <a:solidFill>
                            <a:srgbClr val="FFFFFF"/>
                          </a:solidFill>
                          <a:latin typeface="Aptos"/>
                        </a:rPr>
                        <a:t>Rows</a:t>
                      </a:r>
                    </a:p>
                  </a:txBody>
                  <a:tcPr>
                    <a:solidFill>
                      <a:srgbClr val="18304E"/>
                    </a:solidFill>
                  </a:tcPr>
                </a:tc>
                <a:tc>
                  <a:txBody>
                    <a:bodyPr/>
                    <a:lstStyle/>
                    <a:p>
                      <a:r>
                        <a:rPr sz="1300" b="1">
                          <a:solidFill>
                            <a:srgbClr val="FFFFFF"/>
                          </a:solidFill>
                          <a:latin typeface="Aptos"/>
                        </a:rPr>
                        <a:t>Columns</a:t>
                      </a:r>
                    </a:p>
                  </a:txBody>
                  <a:tcPr>
                    <a:solidFill>
                      <a:srgbClr val="18304E"/>
                    </a:solidFill>
                  </a:tcPr>
                </a:tc>
                <a:tc>
                  <a:txBody>
                    <a:bodyPr/>
                    <a:lstStyle/>
                    <a:p>
                      <a:r>
                        <a:rPr sz="1300" b="1">
                          <a:solidFill>
                            <a:srgbClr val="FFFFFF"/>
                          </a:solidFill>
                          <a:latin typeface="Aptos"/>
                        </a:rPr>
                        <a:t>Purpose</a:t>
                      </a:r>
                    </a:p>
                  </a:txBody>
                  <a:tcPr>
                    <a:solidFill>
                      <a:srgbClr val="18304E"/>
                    </a:solidFill>
                  </a:tcPr>
                </a:tc>
                <a:extLst>
                  <a:ext uri="{0D108BD9-81ED-4DB2-BD59-A6C34878D82A}">
                    <a16:rowId xmlns:a16="http://schemas.microsoft.com/office/drawing/2014/main" val="10000"/>
                  </a:ext>
                </a:extLst>
              </a:tr>
              <a:tr h="613954">
                <a:tc>
                  <a:txBody>
                    <a:bodyPr/>
                    <a:lstStyle/>
                    <a:p>
                      <a:r>
                        <a:rPr sz="1100">
                          <a:solidFill>
                            <a:srgbClr val="2A333F"/>
                          </a:solidFill>
                          <a:latin typeface="Aptos"/>
                        </a:rPr>
                        <a:t>warehouses</a:t>
                      </a:r>
                    </a:p>
                  </a:txBody>
                  <a:tcPr marL="73152" marR="45720">
                    <a:solidFill>
                      <a:srgbClr val="EDF4FA"/>
                    </a:solidFill>
                  </a:tcPr>
                </a:tc>
                <a:tc>
                  <a:txBody>
                    <a:bodyPr/>
                    <a:lstStyle/>
                    <a:p>
                      <a:r>
                        <a:rPr sz="1100">
                          <a:solidFill>
                            <a:srgbClr val="2A333F"/>
                          </a:solidFill>
                          <a:latin typeface="Aptos"/>
                        </a:rPr>
                        <a:t>30</a:t>
                      </a:r>
                    </a:p>
                  </a:txBody>
                  <a:tcPr marL="73152" marR="45720">
                    <a:solidFill>
                      <a:srgbClr val="EDF4FA"/>
                    </a:solidFill>
                  </a:tcPr>
                </a:tc>
                <a:tc>
                  <a:txBody>
                    <a:bodyPr/>
                    <a:lstStyle/>
                    <a:p>
                      <a:r>
                        <a:rPr sz="1100">
                          <a:solidFill>
                            <a:srgbClr val="2A333F"/>
                          </a:solidFill>
                          <a:latin typeface="Aptos"/>
                        </a:rPr>
                        <a:t>7</a:t>
                      </a:r>
                    </a:p>
                  </a:txBody>
                  <a:tcPr marL="73152" marR="45720">
                    <a:solidFill>
                      <a:srgbClr val="EDF4FA"/>
                    </a:solidFill>
                  </a:tcPr>
                </a:tc>
                <a:tc>
                  <a:txBody>
                    <a:bodyPr/>
                    <a:lstStyle/>
                    <a:p>
                      <a:r>
                        <a:rPr sz="1100">
                          <a:solidFill>
                            <a:srgbClr val="2A333F"/>
                          </a:solidFill>
                          <a:latin typeface="Aptos"/>
                        </a:rPr>
                        <a:t>Warehouse location, type, region, capacity</a:t>
                      </a:r>
                    </a:p>
                  </a:txBody>
                  <a:tcPr marL="73152" marR="45720">
                    <a:solidFill>
                      <a:srgbClr val="EDF4FA"/>
                    </a:solidFill>
                  </a:tcPr>
                </a:tc>
                <a:extLst>
                  <a:ext uri="{0D108BD9-81ED-4DB2-BD59-A6C34878D82A}">
                    <a16:rowId xmlns:a16="http://schemas.microsoft.com/office/drawing/2014/main" val="10001"/>
                  </a:ext>
                </a:extLst>
              </a:tr>
              <a:tr h="613954">
                <a:tc>
                  <a:txBody>
                    <a:bodyPr/>
                    <a:lstStyle/>
                    <a:p>
                      <a:r>
                        <a:rPr sz="1100">
                          <a:solidFill>
                            <a:srgbClr val="2A333F"/>
                          </a:solidFill>
                          <a:latin typeface="Aptos"/>
                        </a:rPr>
                        <a:t>suppliers</a:t>
                      </a:r>
                    </a:p>
                  </a:txBody>
                  <a:tcPr marL="73152" marR="45720">
                    <a:solidFill>
                      <a:srgbClr val="FFFFFF"/>
                    </a:solidFill>
                  </a:tcPr>
                </a:tc>
                <a:tc>
                  <a:txBody>
                    <a:bodyPr/>
                    <a:lstStyle/>
                    <a:p>
                      <a:r>
                        <a:rPr sz="1100">
                          <a:solidFill>
                            <a:srgbClr val="2A333F"/>
                          </a:solidFill>
                          <a:latin typeface="Aptos"/>
                        </a:rPr>
                        <a:t>150</a:t>
                      </a:r>
                    </a:p>
                  </a:txBody>
                  <a:tcPr marL="73152" marR="45720">
                    <a:solidFill>
                      <a:srgbClr val="FFFFFF"/>
                    </a:solidFill>
                  </a:tcPr>
                </a:tc>
                <a:tc>
                  <a:txBody>
                    <a:bodyPr/>
                    <a:lstStyle/>
                    <a:p>
                      <a:r>
                        <a:rPr sz="1100">
                          <a:solidFill>
                            <a:srgbClr val="2A333F"/>
                          </a:solidFill>
                          <a:latin typeface="Aptos"/>
                        </a:rPr>
                        <a:t>6</a:t>
                      </a:r>
                    </a:p>
                  </a:txBody>
                  <a:tcPr marL="73152" marR="45720">
                    <a:solidFill>
                      <a:srgbClr val="FFFFFF"/>
                    </a:solidFill>
                  </a:tcPr>
                </a:tc>
                <a:tc>
                  <a:txBody>
                    <a:bodyPr/>
                    <a:lstStyle/>
                    <a:p>
                      <a:r>
                        <a:rPr sz="1100" dirty="0">
                          <a:solidFill>
                            <a:srgbClr val="2A333F"/>
                          </a:solidFill>
                          <a:latin typeface="Aptos"/>
                        </a:rPr>
                        <a:t>Supplier category and reliability rating</a:t>
                      </a:r>
                    </a:p>
                  </a:txBody>
                  <a:tcPr marL="73152" marR="45720">
                    <a:solidFill>
                      <a:srgbClr val="FFFFFF"/>
                    </a:solidFill>
                  </a:tcPr>
                </a:tc>
                <a:extLst>
                  <a:ext uri="{0D108BD9-81ED-4DB2-BD59-A6C34878D82A}">
                    <a16:rowId xmlns:a16="http://schemas.microsoft.com/office/drawing/2014/main" val="10002"/>
                  </a:ext>
                </a:extLst>
              </a:tr>
              <a:tr h="613954">
                <a:tc>
                  <a:txBody>
                    <a:bodyPr/>
                    <a:lstStyle/>
                    <a:p>
                      <a:r>
                        <a:rPr sz="1100">
                          <a:solidFill>
                            <a:srgbClr val="2A333F"/>
                          </a:solidFill>
                          <a:latin typeface="Aptos"/>
                        </a:rPr>
                        <a:t>staff</a:t>
                      </a:r>
                    </a:p>
                  </a:txBody>
                  <a:tcPr marL="73152" marR="45720">
                    <a:solidFill>
                      <a:srgbClr val="EDF4FA"/>
                    </a:solidFill>
                  </a:tcPr>
                </a:tc>
                <a:tc>
                  <a:txBody>
                    <a:bodyPr/>
                    <a:lstStyle/>
                    <a:p>
                      <a:r>
                        <a:rPr sz="1100">
                          <a:solidFill>
                            <a:srgbClr val="2A333F"/>
                          </a:solidFill>
                          <a:latin typeface="Aptos"/>
                        </a:rPr>
                        <a:t>120</a:t>
                      </a:r>
                    </a:p>
                  </a:txBody>
                  <a:tcPr marL="73152" marR="45720">
                    <a:solidFill>
                      <a:srgbClr val="EDF4FA"/>
                    </a:solidFill>
                  </a:tcPr>
                </a:tc>
                <a:tc>
                  <a:txBody>
                    <a:bodyPr/>
                    <a:lstStyle/>
                    <a:p>
                      <a:r>
                        <a:rPr sz="1100">
                          <a:solidFill>
                            <a:srgbClr val="2A333F"/>
                          </a:solidFill>
                          <a:latin typeface="Aptos"/>
                        </a:rPr>
                        <a:t>6</a:t>
                      </a:r>
                    </a:p>
                  </a:txBody>
                  <a:tcPr marL="73152" marR="45720">
                    <a:solidFill>
                      <a:srgbClr val="EDF4FA"/>
                    </a:solidFill>
                  </a:tcPr>
                </a:tc>
                <a:tc>
                  <a:txBody>
                    <a:bodyPr/>
                    <a:lstStyle/>
                    <a:p>
                      <a:r>
                        <a:rPr sz="1100">
                          <a:solidFill>
                            <a:srgbClr val="2A333F"/>
                          </a:solidFill>
                          <a:latin typeface="Aptos"/>
                        </a:rPr>
                        <a:t>Staff details, employment type, active status</a:t>
                      </a:r>
                    </a:p>
                  </a:txBody>
                  <a:tcPr marL="73152" marR="45720">
                    <a:solidFill>
                      <a:srgbClr val="EDF4FA"/>
                    </a:solidFill>
                  </a:tcPr>
                </a:tc>
                <a:extLst>
                  <a:ext uri="{0D108BD9-81ED-4DB2-BD59-A6C34878D82A}">
                    <a16:rowId xmlns:a16="http://schemas.microsoft.com/office/drawing/2014/main" val="10003"/>
                  </a:ext>
                </a:extLst>
              </a:tr>
              <a:tr h="613954">
                <a:tc>
                  <a:txBody>
                    <a:bodyPr/>
                    <a:lstStyle/>
                    <a:p>
                      <a:r>
                        <a:rPr sz="1100">
                          <a:solidFill>
                            <a:srgbClr val="2A333F"/>
                          </a:solidFill>
                          <a:latin typeface="Aptos"/>
                        </a:rPr>
                        <a:t>vehicles</a:t>
                      </a:r>
                    </a:p>
                  </a:txBody>
                  <a:tcPr marL="73152" marR="45720">
                    <a:solidFill>
                      <a:srgbClr val="FFFFFF"/>
                    </a:solidFill>
                  </a:tcPr>
                </a:tc>
                <a:tc>
                  <a:txBody>
                    <a:bodyPr/>
                    <a:lstStyle/>
                    <a:p>
                      <a:r>
                        <a:rPr sz="1100">
                          <a:solidFill>
                            <a:srgbClr val="2A333F"/>
                          </a:solidFill>
                          <a:latin typeface="Aptos"/>
                        </a:rPr>
                        <a:t>90</a:t>
                      </a:r>
                    </a:p>
                  </a:txBody>
                  <a:tcPr marL="73152" marR="45720">
                    <a:solidFill>
                      <a:srgbClr val="FFFFFF"/>
                    </a:solidFill>
                  </a:tcPr>
                </a:tc>
                <a:tc>
                  <a:txBody>
                    <a:bodyPr/>
                    <a:lstStyle/>
                    <a:p>
                      <a:r>
                        <a:rPr sz="1100">
                          <a:solidFill>
                            <a:srgbClr val="2A333F"/>
                          </a:solidFill>
                          <a:latin typeface="Aptos"/>
                        </a:rPr>
                        <a:t>7</a:t>
                      </a:r>
                    </a:p>
                  </a:txBody>
                  <a:tcPr marL="73152" marR="45720">
                    <a:solidFill>
                      <a:srgbClr val="FFFFFF"/>
                    </a:solidFill>
                  </a:tcPr>
                </a:tc>
                <a:tc>
                  <a:txBody>
                    <a:bodyPr/>
                    <a:lstStyle/>
                    <a:p>
                      <a:r>
                        <a:rPr sz="1100">
                          <a:solidFill>
                            <a:srgbClr val="2A333F"/>
                          </a:solidFill>
                          <a:latin typeface="Aptos"/>
                        </a:rPr>
                        <a:t>Vehicle type, payload, depot, service and active status</a:t>
                      </a:r>
                    </a:p>
                  </a:txBody>
                  <a:tcPr marL="73152" marR="45720">
                    <a:solidFill>
                      <a:srgbClr val="FFFFFF"/>
                    </a:solidFill>
                  </a:tcPr>
                </a:tc>
                <a:extLst>
                  <a:ext uri="{0D108BD9-81ED-4DB2-BD59-A6C34878D82A}">
                    <a16:rowId xmlns:a16="http://schemas.microsoft.com/office/drawing/2014/main" val="10004"/>
                  </a:ext>
                </a:extLst>
              </a:tr>
              <a:tr h="613954">
                <a:tc>
                  <a:txBody>
                    <a:bodyPr/>
                    <a:lstStyle/>
                    <a:p>
                      <a:r>
                        <a:rPr sz="1100">
                          <a:solidFill>
                            <a:srgbClr val="2A333F"/>
                          </a:solidFill>
                          <a:latin typeface="Aptos"/>
                        </a:rPr>
                        <a:t>purchase_orders</a:t>
                      </a:r>
                    </a:p>
                  </a:txBody>
                  <a:tcPr marL="73152" marR="45720">
                    <a:solidFill>
                      <a:srgbClr val="EDF4FA"/>
                    </a:solidFill>
                  </a:tcPr>
                </a:tc>
                <a:tc>
                  <a:txBody>
                    <a:bodyPr/>
                    <a:lstStyle/>
                    <a:p>
                      <a:r>
                        <a:rPr sz="1100">
                          <a:solidFill>
                            <a:srgbClr val="2A333F"/>
                          </a:solidFill>
                          <a:latin typeface="Aptos"/>
                        </a:rPr>
                        <a:t>5,000</a:t>
                      </a:r>
                    </a:p>
                  </a:txBody>
                  <a:tcPr marL="73152" marR="45720">
                    <a:solidFill>
                      <a:srgbClr val="EDF4FA"/>
                    </a:solidFill>
                  </a:tcPr>
                </a:tc>
                <a:tc>
                  <a:txBody>
                    <a:bodyPr/>
                    <a:lstStyle/>
                    <a:p>
                      <a:r>
                        <a:rPr sz="1100">
                          <a:solidFill>
                            <a:srgbClr val="2A333F"/>
                          </a:solidFill>
                          <a:latin typeface="Aptos"/>
                        </a:rPr>
                        <a:t>8</a:t>
                      </a:r>
                    </a:p>
                  </a:txBody>
                  <a:tcPr marL="73152" marR="45720">
                    <a:solidFill>
                      <a:srgbClr val="EDF4FA"/>
                    </a:solidFill>
                  </a:tcPr>
                </a:tc>
                <a:tc>
                  <a:txBody>
                    <a:bodyPr/>
                    <a:lstStyle/>
                    <a:p>
                      <a:r>
                        <a:rPr sz="1100">
                          <a:solidFill>
                            <a:srgbClr val="2A333F"/>
                          </a:solidFill>
                          <a:latin typeface="Aptos"/>
                        </a:rPr>
                        <a:t>Order date, warehouse, supplier, category, priority, quantity, cost</a:t>
                      </a:r>
                    </a:p>
                  </a:txBody>
                  <a:tcPr marL="73152" marR="45720">
                    <a:solidFill>
                      <a:srgbClr val="EDF4FA"/>
                    </a:solidFill>
                  </a:tcPr>
                </a:tc>
                <a:extLst>
                  <a:ext uri="{0D108BD9-81ED-4DB2-BD59-A6C34878D82A}">
                    <a16:rowId xmlns:a16="http://schemas.microsoft.com/office/drawing/2014/main" val="10005"/>
                  </a:ext>
                </a:extLst>
              </a:tr>
              <a:tr h="613956">
                <a:tc>
                  <a:txBody>
                    <a:bodyPr/>
                    <a:lstStyle/>
                    <a:p>
                      <a:r>
                        <a:rPr sz="1100">
                          <a:solidFill>
                            <a:srgbClr val="2A333F"/>
                          </a:solidFill>
                          <a:latin typeface="Aptos"/>
                        </a:rPr>
                        <a:t>shipments</a:t>
                      </a:r>
                    </a:p>
                  </a:txBody>
                  <a:tcPr marL="73152" marR="45720">
                    <a:solidFill>
                      <a:srgbClr val="FFFFFF"/>
                    </a:solidFill>
                  </a:tcPr>
                </a:tc>
                <a:tc>
                  <a:txBody>
                    <a:bodyPr/>
                    <a:lstStyle/>
                    <a:p>
                      <a:r>
                        <a:rPr sz="1100">
                          <a:solidFill>
                            <a:srgbClr val="2A333F"/>
                          </a:solidFill>
                          <a:latin typeface="Aptos"/>
                        </a:rPr>
                        <a:t>5,800</a:t>
                      </a:r>
                    </a:p>
                  </a:txBody>
                  <a:tcPr marL="73152" marR="45720">
                    <a:solidFill>
                      <a:srgbClr val="FFFFFF"/>
                    </a:solidFill>
                  </a:tcPr>
                </a:tc>
                <a:tc>
                  <a:txBody>
                    <a:bodyPr/>
                    <a:lstStyle/>
                    <a:p>
                      <a:r>
                        <a:rPr sz="1100">
                          <a:solidFill>
                            <a:srgbClr val="2A333F"/>
                          </a:solidFill>
                          <a:latin typeface="Aptos"/>
                        </a:rPr>
                        <a:t>10</a:t>
                      </a:r>
                    </a:p>
                  </a:txBody>
                  <a:tcPr marL="73152" marR="45720">
                    <a:solidFill>
                      <a:srgbClr val="FFFFFF"/>
                    </a:solidFill>
                  </a:tcPr>
                </a:tc>
                <a:tc>
                  <a:txBody>
                    <a:bodyPr/>
                    <a:lstStyle/>
                    <a:p>
                      <a:r>
                        <a:rPr sz="1100" dirty="0">
                          <a:solidFill>
                            <a:srgbClr val="2A333F"/>
                          </a:solidFill>
                          <a:latin typeface="Aptos"/>
                        </a:rPr>
                        <a:t>Shipment links, staff/vehicle, dates, status, attempts, distance, duration</a:t>
                      </a:r>
                    </a:p>
                  </a:txBody>
                  <a:tcPr marL="73152" marR="45720">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a:xfrm>
            <a:off x="0" y="0"/>
            <a:ext cx="12192000"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292608"/>
            <a:ext cx="11155680" cy="594360"/>
          </a:xfrm>
          <a:prstGeom prst="rect">
            <a:avLst/>
          </a:prstGeom>
          <a:noFill/>
        </p:spPr>
        <p:txBody>
          <a:bodyPr wrap="square" anchor="ctr">
            <a:spAutoFit/>
          </a:bodyPr>
          <a:lstStyle/>
          <a:p>
            <a:pPr>
              <a:defRPr sz="2600" b="1">
                <a:solidFill>
                  <a:srgbClr val="193152"/>
                </a:solidFill>
                <a:latin typeface="Aptos"/>
              </a:defRPr>
            </a:pPr>
            <a:r>
              <a:t>ER Diagram &amp; Database Structure</a:t>
            </a:r>
          </a:p>
        </p:txBody>
      </p:sp>
      <p:sp>
        <p:nvSpPr>
          <p:cNvPr id="9" name="TextBox 8"/>
          <p:cNvSpPr txBox="1"/>
          <p:nvPr/>
        </p:nvSpPr>
        <p:spPr>
          <a:xfrm>
            <a:off x="530352" y="868680"/>
            <a:ext cx="10972800" cy="365760"/>
          </a:xfrm>
          <a:prstGeom prst="rect">
            <a:avLst/>
          </a:prstGeom>
          <a:noFill/>
        </p:spPr>
        <p:txBody>
          <a:bodyPr wrap="square" anchor="ctr">
            <a:spAutoFit/>
          </a:bodyPr>
          <a:lstStyle/>
          <a:p>
            <a:pPr>
              <a:defRPr sz="1100" b="0">
                <a:solidFill>
                  <a:srgbClr val="5F6C78"/>
                </a:solidFill>
                <a:latin typeface="Aptos"/>
              </a:defRPr>
            </a:pPr>
            <a:r>
              <a:rPr dirty="0"/>
              <a:t>Simplified relationships based on the table keys</a:t>
            </a:r>
          </a:p>
        </p:txBody>
      </p:sp>
      <p:sp>
        <p:nvSpPr>
          <p:cNvPr id="11" name="TextBox 10"/>
          <p:cNvSpPr txBox="1"/>
          <p:nvPr/>
        </p:nvSpPr>
        <p:spPr>
          <a:xfrm>
            <a:off x="530352" y="6547104"/>
            <a:ext cx="10972800" cy="182880"/>
          </a:xfrm>
          <a:prstGeom prst="rect">
            <a:avLst/>
          </a:prstGeom>
          <a:noFill/>
        </p:spPr>
        <p:txBody>
          <a:bodyPr wrap="square" anchor="ctr">
            <a:spAutoFit/>
          </a:bodyPr>
          <a:lstStyle/>
          <a:p>
            <a:pPr>
              <a:defRPr sz="800" b="0">
                <a:solidFill>
                  <a:srgbClr val="5F6C78"/>
                </a:solidFill>
                <a:latin typeface="Aptos"/>
              </a:defRPr>
            </a:pPr>
            <a:r>
              <a:rPr dirty="0"/>
              <a:t>C. Divya Sri  |  Retail Supply Chain Analytics  |  8</a:t>
            </a:r>
          </a:p>
        </p:txBody>
      </p:sp>
      <p:pic>
        <p:nvPicPr>
          <p:cNvPr id="3" name="Picture 2">
            <a:extLst>
              <a:ext uri="{FF2B5EF4-FFF2-40B4-BE49-F238E27FC236}">
                <a16:creationId xmlns:a16="http://schemas.microsoft.com/office/drawing/2014/main" id="{75C7CC3D-89D1-4478-7049-74CE6ECE6475}"/>
              </a:ext>
            </a:extLst>
          </p:cNvPr>
          <p:cNvPicPr>
            <a:picLocks noChangeAspect="1"/>
          </p:cNvPicPr>
          <p:nvPr/>
        </p:nvPicPr>
        <p:blipFill>
          <a:blip r:embed="rId2"/>
          <a:stretch>
            <a:fillRect/>
          </a:stretch>
        </p:blipFill>
        <p:spPr>
          <a:xfrm>
            <a:off x="619431" y="1316736"/>
            <a:ext cx="10215717" cy="44154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9B1C18E2-4EDA-4E8B-C2C4-C4F5BE0191B6}"/>
              </a:ext>
            </a:extLst>
          </p:cNvPr>
          <p:cNvSpPr txBox="1"/>
          <p:nvPr/>
        </p:nvSpPr>
        <p:spPr>
          <a:xfrm>
            <a:off x="798452" y="427100"/>
            <a:ext cx="11155680" cy="475488"/>
          </a:xfrm>
          <a:prstGeom prst="rect">
            <a:avLst/>
          </a:prstGeom>
          <a:noFill/>
        </p:spPr>
        <p:txBody>
          <a:bodyPr wrap="square" lIns="73152" tIns="73152" rIns="73152" bIns="73152" anchor="t">
            <a:spAutoFit/>
          </a:bodyPr>
          <a:lstStyle/>
          <a:p>
            <a:pPr algn="l">
              <a:spcAft>
                <a:spcPts val="400"/>
              </a:spcAft>
            </a:pPr>
            <a:r>
              <a:rPr sz="2600" b="1" i="0" dirty="0">
                <a:solidFill>
                  <a:srgbClr val="18304E"/>
                </a:solidFill>
                <a:latin typeface="Aptos"/>
              </a:rPr>
              <a:t>Analysis of the Objectives</a:t>
            </a:r>
          </a:p>
        </p:txBody>
      </p:sp>
      <p:sp>
        <p:nvSpPr>
          <p:cNvPr id="19" name="TextBox 18">
            <a:extLst>
              <a:ext uri="{FF2B5EF4-FFF2-40B4-BE49-F238E27FC236}">
                <a16:creationId xmlns:a16="http://schemas.microsoft.com/office/drawing/2014/main" id="{EBFBA734-99A8-F1E3-3329-ED4B06A2F14F}"/>
              </a:ext>
            </a:extLst>
          </p:cNvPr>
          <p:cNvSpPr txBox="1"/>
          <p:nvPr/>
        </p:nvSpPr>
        <p:spPr>
          <a:xfrm>
            <a:off x="11155680" y="6510528"/>
            <a:ext cx="502920" cy="201168"/>
          </a:xfrm>
          <a:prstGeom prst="rect">
            <a:avLst/>
          </a:prstGeom>
          <a:noFill/>
        </p:spPr>
        <p:txBody>
          <a:bodyPr wrap="square" lIns="73152" tIns="73152" rIns="73152" bIns="73152" anchor="t">
            <a:spAutoFit/>
          </a:bodyPr>
          <a:lstStyle/>
          <a:p>
            <a:pPr algn="r">
              <a:spcAft>
                <a:spcPts val="400"/>
              </a:spcAft>
            </a:pPr>
            <a:r>
              <a:rPr sz="900" b="0" i="0">
                <a:solidFill>
                  <a:srgbClr val="64707D"/>
                </a:solidFill>
                <a:latin typeface="Aptos"/>
              </a:rPr>
              <a:t>8</a:t>
            </a:r>
          </a:p>
        </p:txBody>
      </p:sp>
      <p:sp>
        <p:nvSpPr>
          <p:cNvPr id="22" name="TextBox 21">
            <a:extLst>
              <a:ext uri="{FF2B5EF4-FFF2-40B4-BE49-F238E27FC236}">
                <a16:creationId xmlns:a16="http://schemas.microsoft.com/office/drawing/2014/main" id="{23F07BC3-9086-A5E4-0F95-B2425D4C2FD6}"/>
              </a:ext>
            </a:extLst>
          </p:cNvPr>
          <p:cNvSpPr txBox="1"/>
          <p:nvPr/>
        </p:nvSpPr>
        <p:spPr>
          <a:xfrm>
            <a:off x="530352" y="6530822"/>
            <a:ext cx="10972800" cy="215444"/>
          </a:xfrm>
          <a:prstGeom prst="rect">
            <a:avLst/>
          </a:prstGeom>
          <a:noFill/>
        </p:spPr>
        <p:txBody>
          <a:bodyPr wrap="square" anchor="ctr">
            <a:spAutoFit/>
          </a:bodyPr>
          <a:lstStyle/>
          <a:p>
            <a:pPr>
              <a:defRPr sz="800" b="0">
                <a:solidFill>
                  <a:srgbClr val="5F6C78"/>
                </a:solidFill>
                <a:latin typeface="Aptos"/>
              </a:defRPr>
            </a:pPr>
            <a:r>
              <a:rPr dirty="0"/>
              <a:t>C. Divya Sri  |  Retail Supply Chain Analytics  |  </a:t>
            </a:r>
            <a:r>
              <a:rPr lang="en-US" dirty="0"/>
              <a:t>9</a:t>
            </a:r>
            <a:endParaRPr dirty="0"/>
          </a:p>
        </p:txBody>
      </p:sp>
      <p:sp>
        <p:nvSpPr>
          <p:cNvPr id="3" name="TextBox 2">
            <a:extLst>
              <a:ext uri="{FF2B5EF4-FFF2-40B4-BE49-F238E27FC236}">
                <a16:creationId xmlns:a16="http://schemas.microsoft.com/office/drawing/2014/main" id="{672B93D8-4BE3-5B66-EBEC-A632CB9CB952}"/>
              </a:ext>
            </a:extLst>
          </p:cNvPr>
          <p:cNvSpPr txBox="1"/>
          <p:nvPr/>
        </p:nvSpPr>
        <p:spPr>
          <a:xfrm>
            <a:off x="798452" y="1105288"/>
            <a:ext cx="6096000" cy="338554"/>
          </a:xfrm>
          <a:prstGeom prst="rect">
            <a:avLst/>
          </a:prstGeom>
          <a:noFill/>
        </p:spPr>
        <p:txBody>
          <a:bodyPr wrap="square">
            <a:spAutoFit/>
          </a:bodyPr>
          <a:lstStyle/>
          <a:p>
            <a:r>
              <a:rPr lang="en-IN" sz="1600" b="1" dirty="0">
                <a:solidFill>
                  <a:srgbClr val="FF0000"/>
                </a:solidFill>
              </a:rPr>
              <a:t>Purchase Order Demand Analysis</a:t>
            </a:r>
          </a:p>
        </p:txBody>
      </p:sp>
      <p:sp>
        <p:nvSpPr>
          <p:cNvPr id="5" name="TextBox 4">
            <a:extLst>
              <a:ext uri="{FF2B5EF4-FFF2-40B4-BE49-F238E27FC236}">
                <a16:creationId xmlns:a16="http://schemas.microsoft.com/office/drawing/2014/main" id="{D4BFF4E4-CD58-38BF-516B-9C15647CED67}"/>
              </a:ext>
            </a:extLst>
          </p:cNvPr>
          <p:cNvSpPr txBox="1"/>
          <p:nvPr/>
        </p:nvSpPr>
        <p:spPr>
          <a:xfrm>
            <a:off x="798452" y="1828118"/>
            <a:ext cx="10588752" cy="3539430"/>
          </a:xfrm>
          <a:prstGeom prst="rect">
            <a:avLst/>
          </a:prstGeom>
          <a:noFill/>
        </p:spPr>
        <p:txBody>
          <a:bodyPr wrap="square">
            <a:spAutoFit/>
          </a:bodyPr>
          <a:lstStyle/>
          <a:p>
            <a:pPr>
              <a:buNone/>
            </a:pPr>
            <a:r>
              <a:rPr lang="en-IN" sz="1600" b="1" dirty="0"/>
              <a:t>Summary:</a:t>
            </a:r>
          </a:p>
          <a:p>
            <a:pPr>
              <a:buNone/>
            </a:pPr>
            <a:br>
              <a:rPr lang="en-IN" sz="1600" dirty="0"/>
            </a:br>
            <a:r>
              <a:rPr lang="en-IN" sz="1600" dirty="0"/>
              <a:t>This objective analyses purchase-order demand across product categories, suppliers, warehouses, order priorities, and time periods. It also examines purchase-order costs to understand purchasing patterns and identify areas of high demand and spending.</a:t>
            </a:r>
          </a:p>
          <a:p>
            <a:pPr>
              <a:buNone/>
            </a:pPr>
            <a:endParaRPr lang="en-IN" sz="1600" dirty="0"/>
          </a:p>
          <a:p>
            <a:pPr>
              <a:buNone/>
            </a:pPr>
            <a:r>
              <a:rPr lang="en-IN" sz="1600" b="1" dirty="0"/>
              <a:t>Analysis covered:</a:t>
            </a:r>
          </a:p>
          <a:p>
            <a:pPr>
              <a:buNone/>
            </a:pPr>
            <a:endParaRPr lang="en-IN" sz="1600" b="1" dirty="0"/>
          </a:p>
          <a:p>
            <a:pPr marL="342900" lvl="0" indent="-342900">
              <a:buFont typeface="Arial" panose="020B0604020202020204" pitchFamily="34" charset="0"/>
              <a:buChar char="•"/>
            </a:pPr>
            <a:r>
              <a:rPr lang="en-IN" sz="1600" dirty="0"/>
              <a:t>Analysed purchase-order volume across different product categories.</a:t>
            </a:r>
          </a:p>
          <a:p>
            <a:pPr marL="342900" lvl="0" indent="-342900">
              <a:buFont typeface="Arial" panose="020B0604020202020204" pitchFamily="34" charset="0"/>
              <a:buChar char="•"/>
            </a:pPr>
            <a:r>
              <a:rPr lang="en-IN" sz="1600" dirty="0"/>
              <a:t>Examined suppliers based on the number of purchase orders received.</a:t>
            </a:r>
          </a:p>
          <a:p>
            <a:pPr marL="342900" lvl="0" indent="-342900">
              <a:buFont typeface="Arial" panose="020B0604020202020204" pitchFamily="34" charset="0"/>
              <a:buChar char="•"/>
            </a:pPr>
            <a:r>
              <a:rPr lang="en-IN" sz="1600" dirty="0"/>
              <a:t>Compared purchase-order demand across warehouses.</a:t>
            </a:r>
          </a:p>
          <a:p>
            <a:pPr marL="342900" lvl="0" indent="-342900">
              <a:buFont typeface="Arial" panose="020B0604020202020204" pitchFamily="34" charset="0"/>
              <a:buChar char="•"/>
            </a:pPr>
            <a:r>
              <a:rPr lang="en-IN" sz="1600" dirty="0"/>
              <a:t>Evaluated order volume and quantity across different priority levels.</a:t>
            </a:r>
          </a:p>
          <a:p>
            <a:pPr marL="342900" lvl="0" indent="-342900">
              <a:buFont typeface="Arial" panose="020B0604020202020204" pitchFamily="34" charset="0"/>
              <a:buChar char="•"/>
            </a:pPr>
            <a:r>
              <a:rPr lang="en-IN" sz="1600" dirty="0"/>
              <a:t>Analysed monthly purchase-order trends to understand demand changes over time.</a:t>
            </a:r>
          </a:p>
          <a:p>
            <a:pPr marL="342900" lvl="0" indent="-342900">
              <a:buFont typeface="Arial" panose="020B0604020202020204" pitchFamily="34" charset="0"/>
              <a:buChar char="•"/>
            </a:pPr>
            <a:r>
              <a:rPr lang="en-IN" sz="1600" dirty="0"/>
              <a:t>Compared total purchase-order costs across product categories to identify spending patterns.</a:t>
            </a:r>
          </a:p>
        </p:txBody>
      </p:sp>
    </p:spTree>
    <p:extLst>
      <p:ext uri="{BB962C8B-B14F-4D97-AF65-F5344CB8AC3E}">
        <p14:creationId xmlns:p14="http://schemas.microsoft.com/office/powerpoint/2010/main" val="4165457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C1AEE52-A356-0870-2D76-78FE61977C8D}"/>
              </a:ext>
            </a:extLst>
          </p:cNvPr>
          <p:cNvSpPr txBox="1"/>
          <p:nvPr/>
        </p:nvSpPr>
        <p:spPr>
          <a:xfrm>
            <a:off x="11155680" y="6510528"/>
            <a:ext cx="502920" cy="201168"/>
          </a:xfrm>
          <a:prstGeom prst="rect">
            <a:avLst/>
          </a:prstGeom>
          <a:noFill/>
        </p:spPr>
        <p:txBody>
          <a:bodyPr wrap="square" lIns="73152" tIns="73152" rIns="73152" bIns="73152" anchor="t">
            <a:spAutoFit/>
          </a:bodyPr>
          <a:lstStyle/>
          <a:p>
            <a:pPr algn="r">
              <a:spcAft>
                <a:spcPts val="400"/>
              </a:spcAft>
            </a:pPr>
            <a:r>
              <a:rPr sz="900" b="0" i="0">
                <a:solidFill>
                  <a:srgbClr val="64707D"/>
                </a:solidFill>
                <a:latin typeface="Aptos"/>
              </a:rPr>
              <a:t>8</a:t>
            </a:r>
          </a:p>
        </p:txBody>
      </p:sp>
      <p:sp>
        <p:nvSpPr>
          <p:cNvPr id="12" name="TextBox 11">
            <a:extLst>
              <a:ext uri="{FF2B5EF4-FFF2-40B4-BE49-F238E27FC236}">
                <a16:creationId xmlns:a16="http://schemas.microsoft.com/office/drawing/2014/main" id="{E96572A5-FBA9-8F4E-F5C5-CF9CBC0161C8}"/>
              </a:ext>
            </a:extLst>
          </p:cNvPr>
          <p:cNvSpPr txBox="1"/>
          <p:nvPr/>
        </p:nvSpPr>
        <p:spPr>
          <a:xfrm>
            <a:off x="530352" y="6530822"/>
            <a:ext cx="10972800" cy="215444"/>
          </a:xfrm>
          <a:prstGeom prst="rect">
            <a:avLst/>
          </a:prstGeom>
          <a:noFill/>
        </p:spPr>
        <p:txBody>
          <a:bodyPr wrap="square" anchor="ctr">
            <a:spAutoFit/>
          </a:bodyPr>
          <a:lstStyle/>
          <a:p>
            <a:pPr>
              <a:defRPr sz="800" b="0">
                <a:solidFill>
                  <a:srgbClr val="5F6C78"/>
                </a:solidFill>
                <a:latin typeface="Aptos"/>
              </a:defRPr>
            </a:pPr>
            <a:r>
              <a:rPr dirty="0"/>
              <a:t>C. Divya Sri  |  Retail Supply Chain Analytics  |  </a:t>
            </a:r>
            <a:r>
              <a:rPr lang="en-US" dirty="0"/>
              <a:t>10</a:t>
            </a:r>
            <a:endParaRPr dirty="0"/>
          </a:p>
        </p:txBody>
      </p:sp>
      <p:sp>
        <p:nvSpPr>
          <p:cNvPr id="14" name="TextBox 13">
            <a:extLst>
              <a:ext uri="{FF2B5EF4-FFF2-40B4-BE49-F238E27FC236}">
                <a16:creationId xmlns:a16="http://schemas.microsoft.com/office/drawing/2014/main" id="{64BE81E4-E9FF-15A9-F163-55C2D483A3E4}"/>
              </a:ext>
            </a:extLst>
          </p:cNvPr>
          <p:cNvSpPr txBox="1"/>
          <p:nvPr/>
        </p:nvSpPr>
        <p:spPr>
          <a:xfrm>
            <a:off x="798452" y="1105288"/>
            <a:ext cx="6096000" cy="338554"/>
          </a:xfrm>
          <a:prstGeom prst="rect">
            <a:avLst/>
          </a:prstGeom>
          <a:noFill/>
        </p:spPr>
        <p:txBody>
          <a:bodyPr wrap="square">
            <a:spAutoFit/>
          </a:bodyPr>
          <a:lstStyle/>
          <a:p>
            <a:r>
              <a:rPr lang="en-IN" sz="1600" b="1" dirty="0">
                <a:solidFill>
                  <a:srgbClr val="FF0000"/>
                </a:solidFill>
              </a:rPr>
              <a:t>Warehouse Ordering Behaviour</a:t>
            </a:r>
          </a:p>
        </p:txBody>
      </p:sp>
      <p:sp>
        <p:nvSpPr>
          <p:cNvPr id="16" name="TextBox 15">
            <a:extLst>
              <a:ext uri="{FF2B5EF4-FFF2-40B4-BE49-F238E27FC236}">
                <a16:creationId xmlns:a16="http://schemas.microsoft.com/office/drawing/2014/main" id="{5F16180F-2277-337E-7AF8-867002A6C834}"/>
              </a:ext>
            </a:extLst>
          </p:cNvPr>
          <p:cNvSpPr txBox="1"/>
          <p:nvPr/>
        </p:nvSpPr>
        <p:spPr>
          <a:xfrm>
            <a:off x="798452" y="1828118"/>
            <a:ext cx="10588752" cy="3539430"/>
          </a:xfrm>
          <a:prstGeom prst="rect">
            <a:avLst/>
          </a:prstGeom>
          <a:noFill/>
        </p:spPr>
        <p:txBody>
          <a:bodyPr wrap="square">
            <a:spAutoFit/>
          </a:bodyPr>
          <a:lstStyle/>
          <a:p>
            <a:r>
              <a:rPr lang="en-IN" sz="1600" b="1" dirty="0"/>
              <a:t>Summary:</a:t>
            </a:r>
          </a:p>
          <a:p>
            <a:br>
              <a:rPr lang="en-IN" sz="1600" dirty="0"/>
            </a:br>
            <a:r>
              <a:rPr lang="en-IN" sz="1600" dirty="0"/>
              <a:t>This objective evaluates warehouse ordering behaviour by comparing purchase-order volume, total procurement cost, region, warehouse type, and average order quantity. It helps understand differences in warehouse purchasing activity and supports better procurement planning.</a:t>
            </a:r>
          </a:p>
          <a:p>
            <a:endParaRPr lang="en-IN" sz="1600" dirty="0"/>
          </a:p>
          <a:p>
            <a:r>
              <a:rPr lang="en-IN" sz="1600" b="1" dirty="0"/>
              <a:t>Analysis covered:</a:t>
            </a:r>
          </a:p>
          <a:p>
            <a:endParaRPr lang="en-IN" sz="1600" b="1" dirty="0"/>
          </a:p>
          <a:p>
            <a:pPr marL="285750" lvl="0" indent="-285750">
              <a:buFont typeface="Arial" panose="020B0604020202020204" pitchFamily="34" charset="0"/>
              <a:buChar char="•"/>
            </a:pPr>
            <a:r>
              <a:rPr lang="en-IN" sz="1600" dirty="0"/>
              <a:t>Compared the number of purchase orders placed by each warehouse.</a:t>
            </a:r>
          </a:p>
          <a:p>
            <a:pPr marL="285750" lvl="0" indent="-285750">
              <a:buFont typeface="Arial" panose="020B0604020202020204" pitchFamily="34" charset="0"/>
              <a:buChar char="•"/>
            </a:pPr>
            <a:r>
              <a:rPr lang="en-IN" sz="1600" dirty="0"/>
              <a:t>Analysed total purchase-order cost across warehouses.</a:t>
            </a:r>
          </a:p>
          <a:p>
            <a:pPr marL="285750" lvl="0" indent="-285750">
              <a:buFont typeface="Arial" panose="020B0604020202020204" pitchFamily="34" charset="0"/>
              <a:buChar char="•"/>
            </a:pPr>
            <a:r>
              <a:rPr lang="en-IN" sz="1600" dirty="0"/>
              <a:t>Examined regional differences in purchase-order activity.</a:t>
            </a:r>
          </a:p>
          <a:p>
            <a:pPr marL="285750" lvl="0" indent="-285750">
              <a:buFont typeface="Arial" panose="020B0604020202020204" pitchFamily="34" charset="0"/>
              <a:buChar char="•"/>
            </a:pPr>
            <a:r>
              <a:rPr lang="en-IN" sz="1600" dirty="0"/>
              <a:t>Compared ordering patterns across different warehouse types.</a:t>
            </a:r>
          </a:p>
          <a:p>
            <a:pPr marL="285750" lvl="0" indent="-285750">
              <a:buFont typeface="Arial" panose="020B0604020202020204" pitchFamily="34" charset="0"/>
              <a:buChar char="•"/>
            </a:pPr>
            <a:r>
              <a:rPr lang="en-IN" sz="1600" dirty="0"/>
              <a:t>Evaluated average order quantity for each warehouse.</a:t>
            </a:r>
          </a:p>
          <a:p>
            <a:pPr marL="285750" lvl="0" indent="-285750">
              <a:buFont typeface="Arial" panose="020B0604020202020204" pitchFamily="34" charset="0"/>
              <a:buChar char="•"/>
            </a:pPr>
            <a:r>
              <a:rPr lang="en-IN" sz="1600" dirty="0"/>
              <a:t>Analysed monthly ordering trends across warehouses to understand changes in purchasing activity.</a:t>
            </a:r>
          </a:p>
        </p:txBody>
      </p:sp>
    </p:spTree>
    <p:extLst>
      <p:ext uri="{BB962C8B-B14F-4D97-AF65-F5344CB8AC3E}">
        <p14:creationId xmlns:p14="http://schemas.microsoft.com/office/powerpoint/2010/main" val="695513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C2C61FB-604E-E643-EF31-7CE0EB1FC2CF}"/>
              </a:ext>
            </a:extLst>
          </p:cNvPr>
          <p:cNvSpPr txBox="1"/>
          <p:nvPr/>
        </p:nvSpPr>
        <p:spPr>
          <a:xfrm>
            <a:off x="11155680" y="6510528"/>
            <a:ext cx="502920" cy="201168"/>
          </a:xfrm>
          <a:prstGeom prst="rect">
            <a:avLst/>
          </a:prstGeom>
          <a:noFill/>
        </p:spPr>
        <p:txBody>
          <a:bodyPr wrap="square" lIns="73152" tIns="73152" rIns="73152" bIns="73152" anchor="t">
            <a:spAutoFit/>
          </a:bodyPr>
          <a:lstStyle/>
          <a:p>
            <a:pPr algn="r">
              <a:spcAft>
                <a:spcPts val="400"/>
              </a:spcAft>
            </a:pPr>
            <a:r>
              <a:rPr sz="900" b="0" i="0">
                <a:solidFill>
                  <a:srgbClr val="64707D"/>
                </a:solidFill>
                <a:latin typeface="Aptos"/>
              </a:rPr>
              <a:t>8</a:t>
            </a:r>
          </a:p>
        </p:txBody>
      </p:sp>
      <p:sp>
        <p:nvSpPr>
          <p:cNvPr id="10" name="TextBox 9">
            <a:extLst>
              <a:ext uri="{FF2B5EF4-FFF2-40B4-BE49-F238E27FC236}">
                <a16:creationId xmlns:a16="http://schemas.microsoft.com/office/drawing/2014/main" id="{934B016C-6D63-3175-E3AF-F478FA7F8F26}"/>
              </a:ext>
            </a:extLst>
          </p:cNvPr>
          <p:cNvSpPr txBox="1"/>
          <p:nvPr/>
        </p:nvSpPr>
        <p:spPr>
          <a:xfrm>
            <a:off x="530352" y="6530822"/>
            <a:ext cx="10972800" cy="215444"/>
          </a:xfrm>
          <a:prstGeom prst="rect">
            <a:avLst/>
          </a:prstGeom>
          <a:noFill/>
        </p:spPr>
        <p:txBody>
          <a:bodyPr wrap="square" anchor="ctr">
            <a:spAutoFit/>
          </a:bodyPr>
          <a:lstStyle/>
          <a:p>
            <a:pPr>
              <a:defRPr sz="800" b="0">
                <a:solidFill>
                  <a:srgbClr val="5F6C78"/>
                </a:solidFill>
                <a:latin typeface="Aptos"/>
              </a:defRPr>
            </a:pPr>
            <a:r>
              <a:rPr dirty="0"/>
              <a:t>C. Divya Sri  |  Retail Supply Chain Analytics  |  </a:t>
            </a:r>
            <a:r>
              <a:rPr lang="en-US" dirty="0"/>
              <a:t>11</a:t>
            </a:r>
            <a:endParaRPr dirty="0"/>
          </a:p>
        </p:txBody>
      </p:sp>
      <p:sp>
        <p:nvSpPr>
          <p:cNvPr id="12" name="TextBox 11">
            <a:extLst>
              <a:ext uri="{FF2B5EF4-FFF2-40B4-BE49-F238E27FC236}">
                <a16:creationId xmlns:a16="http://schemas.microsoft.com/office/drawing/2014/main" id="{2C7DCC03-502F-D4FF-1BD0-06C62119D9A4}"/>
              </a:ext>
            </a:extLst>
          </p:cNvPr>
          <p:cNvSpPr txBox="1"/>
          <p:nvPr/>
        </p:nvSpPr>
        <p:spPr>
          <a:xfrm>
            <a:off x="798452" y="1105288"/>
            <a:ext cx="6096000" cy="338554"/>
          </a:xfrm>
          <a:prstGeom prst="rect">
            <a:avLst/>
          </a:prstGeom>
          <a:noFill/>
        </p:spPr>
        <p:txBody>
          <a:bodyPr wrap="square">
            <a:spAutoFit/>
          </a:bodyPr>
          <a:lstStyle/>
          <a:p>
            <a:r>
              <a:rPr lang="en-IN" sz="1600" b="1" dirty="0">
                <a:solidFill>
                  <a:srgbClr val="FF0000"/>
                </a:solidFill>
              </a:rPr>
              <a:t>Shipment Performance Analysis</a:t>
            </a:r>
          </a:p>
        </p:txBody>
      </p:sp>
      <p:sp>
        <p:nvSpPr>
          <p:cNvPr id="14" name="TextBox 13">
            <a:extLst>
              <a:ext uri="{FF2B5EF4-FFF2-40B4-BE49-F238E27FC236}">
                <a16:creationId xmlns:a16="http://schemas.microsoft.com/office/drawing/2014/main" id="{F9B4DF7A-341F-298F-415A-CC2B90F6C0E8}"/>
              </a:ext>
            </a:extLst>
          </p:cNvPr>
          <p:cNvSpPr txBox="1"/>
          <p:nvPr/>
        </p:nvSpPr>
        <p:spPr>
          <a:xfrm>
            <a:off x="798452" y="1828118"/>
            <a:ext cx="10588752" cy="3539430"/>
          </a:xfrm>
          <a:prstGeom prst="rect">
            <a:avLst/>
          </a:prstGeom>
          <a:noFill/>
        </p:spPr>
        <p:txBody>
          <a:bodyPr wrap="square">
            <a:spAutoFit/>
          </a:bodyPr>
          <a:lstStyle/>
          <a:p>
            <a:r>
              <a:rPr lang="en-IN" sz="1600" b="1" dirty="0"/>
              <a:t>Summary:</a:t>
            </a:r>
          </a:p>
          <a:p>
            <a:br>
              <a:rPr lang="en-IN" sz="1600" dirty="0"/>
            </a:br>
            <a:r>
              <a:rPr lang="en-IN" sz="1600" dirty="0"/>
              <a:t>This objective evaluates shipment performance by examining shipment status, transit duration, supplier-related outcomes, warehouse-related delays, and shipment trends over time. It helps identify delivery patterns and areas that may require operational improvement.</a:t>
            </a:r>
          </a:p>
          <a:p>
            <a:endParaRPr lang="en-IN" sz="1600" b="1" dirty="0"/>
          </a:p>
          <a:p>
            <a:r>
              <a:rPr lang="en-IN" sz="1600" b="1" dirty="0"/>
              <a:t>Analysis covered:</a:t>
            </a:r>
          </a:p>
          <a:p>
            <a:endParaRPr lang="en-IN" sz="1600" dirty="0"/>
          </a:p>
          <a:p>
            <a:pPr marL="285750" lvl="0" indent="-285750">
              <a:buFont typeface="Arial" panose="020B0604020202020204" pitchFamily="34" charset="0"/>
              <a:buChar char="•"/>
            </a:pPr>
            <a:r>
              <a:rPr lang="en-IN" sz="1600" dirty="0"/>
              <a:t>Analysed the distribution of delivered, delayed, damaged, and in-transit shipments.</a:t>
            </a:r>
          </a:p>
          <a:p>
            <a:pPr marL="285750" lvl="0" indent="-285750">
              <a:buFont typeface="Arial" panose="020B0604020202020204" pitchFamily="34" charset="0"/>
              <a:buChar char="•"/>
            </a:pPr>
            <a:r>
              <a:rPr lang="en-IN" sz="1600" dirty="0"/>
              <a:t>Compared suppliers based on delayed and damaged shipment records.</a:t>
            </a:r>
          </a:p>
          <a:p>
            <a:pPr marL="285750" lvl="0" indent="-285750">
              <a:buFont typeface="Arial" panose="020B0604020202020204" pitchFamily="34" charset="0"/>
              <a:buChar char="•"/>
            </a:pPr>
            <a:r>
              <a:rPr lang="en-IN" sz="1600" dirty="0"/>
              <a:t>Calculated average shipment transit duration.</a:t>
            </a:r>
          </a:p>
          <a:p>
            <a:pPr marL="285750" lvl="0" indent="-285750">
              <a:buFont typeface="Arial" panose="020B0604020202020204" pitchFamily="34" charset="0"/>
              <a:buChar char="•"/>
            </a:pPr>
            <a:r>
              <a:rPr lang="en-IN" sz="1600" dirty="0"/>
              <a:t>Identified warehouses with higher numbers of delayed shipments.</a:t>
            </a:r>
          </a:p>
          <a:p>
            <a:pPr marL="285750" lvl="0" indent="-285750">
              <a:buFont typeface="Arial" panose="020B0604020202020204" pitchFamily="34" charset="0"/>
              <a:buChar char="•"/>
            </a:pPr>
            <a:r>
              <a:rPr lang="en-IN" sz="1600" dirty="0"/>
              <a:t>Examined monthly shipment trends by status.</a:t>
            </a:r>
          </a:p>
          <a:p>
            <a:pPr marL="285750" lvl="0" indent="-285750">
              <a:buFont typeface="Arial" panose="020B0604020202020204" pitchFamily="34" charset="0"/>
              <a:buChar char="•"/>
            </a:pPr>
            <a:r>
              <a:rPr lang="en-IN" sz="1600" dirty="0"/>
              <a:t>Compared average transit duration across different shipment statuses.</a:t>
            </a:r>
          </a:p>
        </p:txBody>
      </p:sp>
    </p:spTree>
    <p:extLst>
      <p:ext uri="{BB962C8B-B14F-4D97-AF65-F5344CB8AC3E}">
        <p14:creationId xmlns:p14="http://schemas.microsoft.com/office/powerpoint/2010/main" val="3931420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F1A3E5A-140B-4C23-40E9-6005ED82C33A}"/>
              </a:ext>
            </a:extLst>
          </p:cNvPr>
          <p:cNvSpPr txBox="1"/>
          <p:nvPr/>
        </p:nvSpPr>
        <p:spPr>
          <a:xfrm>
            <a:off x="11155680" y="6510528"/>
            <a:ext cx="502920" cy="201168"/>
          </a:xfrm>
          <a:prstGeom prst="rect">
            <a:avLst/>
          </a:prstGeom>
          <a:noFill/>
        </p:spPr>
        <p:txBody>
          <a:bodyPr wrap="square" lIns="73152" tIns="73152" rIns="73152" bIns="73152" anchor="t">
            <a:spAutoFit/>
          </a:bodyPr>
          <a:lstStyle/>
          <a:p>
            <a:pPr algn="r">
              <a:spcAft>
                <a:spcPts val="400"/>
              </a:spcAft>
            </a:pPr>
            <a:r>
              <a:rPr sz="900" b="0" i="0">
                <a:solidFill>
                  <a:srgbClr val="64707D"/>
                </a:solidFill>
                <a:latin typeface="Aptos"/>
              </a:rPr>
              <a:t>8</a:t>
            </a:r>
          </a:p>
        </p:txBody>
      </p:sp>
      <p:sp>
        <p:nvSpPr>
          <p:cNvPr id="10" name="TextBox 9">
            <a:extLst>
              <a:ext uri="{FF2B5EF4-FFF2-40B4-BE49-F238E27FC236}">
                <a16:creationId xmlns:a16="http://schemas.microsoft.com/office/drawing/2014/main" id="{E6D7C1B5-38CF-5651-F112-F3B146405AD2}"/>
              </a:ext>
            </a:extLst>
          </p:cNvPr>
          <p:cNvSpPr txBox="1"/>
          <p:nvPr/>
        </p:nvSpPr>
        <p:spPr>
          <a:xfrm>
            <a:off x="530352" y="6530822"/>
            <a:ext cx="10972800" cy="215444"/>
          </a:xfrm>
          <a:prstGeom prst="rect">
            <a:avLst/>
          </a:prstGeom>
          <a:noFill/>
        </p:spPr>
        <p:txBody>
          <a:bodyPr wrap="square" anchor="ctr">
            <a:spAutoFit/>
          </a:bodyPr>
          <a:lstStyle/>
          <a:p>
            <a:pPr>
              <a:defRPr sz="800" b="0">
                <a:solidFill>
                  <a:srgbClr val="5F6C78"/>
                </a:solidFill>
                <a:latin typeface="Aptos"/>
              </a:defRPr>
            </a:pPr>
            <a:r>
              <a:rPr dirty="0"/>
              <a:t>C. Divya Sri  |  Retail Supply Chain Analytics  |  </a:t>
            </a:r>
            <a:r>
              <a:rPr lang="en-US" dirty="0"/>
              <a:t>12</a:t>
            </a:r>
            <a:endParaRPr dirty="0"/>
          </a:p>
        </p:txBody>
      </p:sp>
      <p:sp>
        <p:nvSpPr>
          <p:cNvPr id="12" name="TextBox 11">
            <a:extLst>
              <a:ext uri="{FF2B5EF4-FFF2-40B4-BE49-F238E27FC236}">
                <a16:creationId xmlns:a16="http://schemas.microsoft.com/office/drawing/2014/main" id="{DFBC17E1-901F-61E1-61B9-BAF4956C90C1}"/>
              </a:ext>
            </a:extLst>
          </p:cNvPr>
          <p:cNvSpPr txBox="1"/>
          <p:nvPr/>
        </p:nvSpPr>
        <p:spPr>
          <a:xfrm>
            <a:off x="798452" y="1105288"/>
            <a:ext cx="6096000" cy="338554"/>
          </a:xfrm>
          <a:prstGeom prst="rect">
            <a:avLst/>
          </a:prstGeom>
          <a:noFill/>
        </p:spPr>
        <p:txBody>
          <a:bodyPr wrap="square">
            <a:spAutoFit/>
          </a:bodyPr>
          <a:lstStyle/>
          <a:p>
            <a:r>
              <a:rPr lang="en-IN" sz="1600" b="1" dirty="0">
                <a:solidFill>
                  <a:srgbClr val="FF0000"/>
                </a:solidFill>
              </a:rPr>
              <a:t>Staff and Vehicle Performance</a:t>
            </a:r>
          </a:p>
        </p:txBody>
      </p:sp>
      <p:sp>
        <p:nvSpPr>
          <p:cNvPr id="14" name="TextBox 13">
            <a:extLst>
              <a:ext uri="{FF2B5EF4-FFF2-40B4-BE49-F238E27FC236}">
                <a16:creationId xmlns:a16="http://schemas.microsoft.com/office/drawing/2014/main" id="{6F35BC97-F661-AD36-90B9-5AAE6FCB1801}"/>
              </a:ext>
            </a:extLst>
          </p:cNvPr>
          <p:cNvSpPr txBox="1"/>
          <p:nvPr/>
        </p:nvSpPr>
        <p:spPr>
          <a:xfrm>
            <a:off x="798452" y="1828118"/>
            <a:ext cx="10588752" cy="3539430"/>
          </a:xfrm>
          <a:prstGeom prst="rect">
            <a:avLst/>
          </a:prstGeom>
          <a:noFill/>
        </p:spPr>
        <p:txBody>
          <a:bodyPr wrap="square">
            <a:spAutoFit/>
          </a:bodyPr>
          <a:lstStyle/>
          <a:p>
            <a:r>
              <a:rPr lang="en-IN" sz="1600" b="1" dirty="0"/>
              <a:t>Summary:</a:t>
            </a:r>
          </a:p>
          <a:p>
            <a:br>
              <a:rPr lang="en-IN" sz="1600" dirty="0"/>
            </a:br>
            <a:r>
              <a:rPr lang="en-IN" sz="1600" dirty="0"/>
              <a:t>This objective analyses staff workload and vehicle utilization by examining shipment assignments, transit duration, shipment outcomes, and vehicle types. It helps understand logistics resource usage and identify operational patterns for further investigation.</a:t>
            </a:r>
          </a:p>
          <a:p>
            <a:endParaRPr lang="en-IN" sz="1600" dirty="0"/>
          </a:p>
          <a:p>
            <a:r>
              <a:rPr lang="en-IN" sz="1600" b="1" dirty="0"/>
              <a:t>Analysis covered:</a:t>
            </a:r>
          </a:p>
          <a:p>
            <a:endParaRPr lang="en-IN" sz="1600" dirty="0"/>
          </a:p>
          <a:p>
            <a:pPr marL="285750" lvl="0" indent="-285750">
              <a:buFont typeface="Arial" panose="020B0604020202020204" pitchFamily="34" charset="0"/>
              <a:buChar char="•"/>
            </a:pPr>
            <a:r>
              <a:rPr lang="en-IN" sz="1600" dirty="0"/>
              <a:t>Compared the number of shipments handled by each staff member.</a:t>
            </a:r>
          </a:p>
          <a:p>
            <a:pPr marL="285750" lvl="0" indent="-285750">
              <a:buFont typeface="Arial" panose="020B0604020202020204" pitchFamily="34" charset="0"/>
              <a:buChar char="•"/>
            </a:pPr>
            <a:r>
              <a:rPr lang="en-IN" sz="1600" dirty="0"/>
              <a:t>Analysed average transit duration for shipments handled by staff members.</a:t>
            </a:r>
          </a:p>
          <a:p>
            <a:pPr marL="285750" lvl="0" indent="-285750">
              <a:buFont typeface="Arial" panose="020B0604020202020204" pitchFamily="34" charset="0"/>
              <a:buChar char="•"/>
            </a:pPr>
            <a:r>
              <a:rPr lang="en-IN" sz="1600" dirty="0"/>
              <a:t>Examined shipment outcomes associated with each staff member.</a:t>
            </a:r>
          </a:p>
          <a:p>
            <a:pPr marL="285750" lvl="0" indent="-285750">
              <a:buFont typeface="Arial" panose="020B0604020202020204" pitchFamily="34" charset="0"/>
              <a:buChar char="•"/>
            </a:pPr>
            <a:r>
              <a:rPr lang="en-IN" sz="1600" dirty="0"/>
              <a:t>Compared shipment usage across different vehicle types.</a:t>
            </a:r>
          </a:p>
          <a:p>
            <a:pPr marL="285750" lvl="0" indent="-285750">
              <a:buFont typeface="Arial" panose="020B0604020202020204" pitchFamily="34" charset="0"/>
              <a:buChar char="•"/>
            </a:pPr>
            <a:r>
              <a:rPr lang="en-IN" sz="1600" dirty="0"/>
              <a:t>Evaluated average transit duration across vehicle types.</a:t>
            </a:r>
          </a:p>
          <a:p>
            <a:pPr marL="285750" lvl="0" indent="-285750">
              <a:buFont typeface="Arial" panose="020B0604020202020204" pitchFamily="34" charset="0"/>
              <a:buChar char="•"/>
            </a:pPr>
            <a:r>
              <a:rPr lang="en-IN" sz="1600" dirty="0"/>
              <a:t>Analysed delayed and damaged shipment counts by vehicle type.</a:t>
            </a:r>
          </a:p>
        </p:txBody>
      </p:sp>
    </p:spTree>
    <p:extLst>
      <p:ext uri="{BB962C8B-B14F-4D97-AF65-F5344CB8AC3E}">
        <p14:creationId xmlns:p14="http://schemas.microsoft.com/office/powerpoint/2010/main" val="2525531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C5909A9-2910-5BAA-4E1E-B0273C4EB580}"/>
              </a:ext>
            </a:extLst>
          </p:cNvPr>
          <p:cNvSpPr txBox="1"/>
          <p:nvPr/>
        </p:nvSpPr>
        <p:spPr>
          <a:xfrm>
            <a:off x="11155680" y="6510528"/>
            <a:ext cx="502920" cy="201168"/>
          </a:xfrm>
          <a:prstGeom prst="rect">
            <a:avLst/>
          </a:prstGeom>
          <a:noFill/>
        </p:spPr>
        <p:txBody>
          <a:bodyPr wrap="square" lIns="73152" tIns="73152" rIns="73152" bIns="73152" anchor="t">
            <a:spAutoFit/>
          </a:bodyPr>
          <a:lstStyle/>
          <a:p>
            <a:pPr algn="r">
              <a:spcAft>
                <a:spcPts val="400"/>
              </a:spcAft>
            </a:pPr>
            <a:r>
              <a:rPr sz="900" b="0" i="0">
                <a:solidFill>
                  <a:srgbClr val="64707D"/>
                </a:solidFill>
                <a:latin typeface="Aptos"/>
              </a:rPr>
              <a:t>8</a:t>
            </a:r>
          </a:p>
        </p:txBody>
      </p:sp>
      <p:sp>
        <p:nvSpPr>
          <p:cNvPr id="10" name="TextBox 9">
            <a:extLst>
              <a:ext uri="{FF2B5EF4-FFF2-40B4-BE49-F238E27FC236}">
                <a16:creationId xmlns:a16="http://schemas.microsoft.com/office/drawing/2014/main" id="{FE3FF8C4-B99F-7AFF-1A3D-3046BCD01642}"/>
              </a:ext>
            </a:extLst>
          </p:cNvPr>
          <p:cNvSpPr txBox="1"/>
          <p:nvPr/>
        </p:nvSpPr>
        <p:spPr>
          <a:xfrm>
            <a:off x="530352" y="6530822"/>
            <a:ext cx="10972800" cy="215444"/>
          </a:xfrm>
          <a:prstGeom prst="rect">
            <a:avLst/>
          </a:prstGeom>
          <a:noFill/>
        </p:spPr>
        <p:txBody>
          <a:bodyPr wrap="square" anchor="ctr">
            <a:spAutoFit/>
          </a:bodyPr>
          <a:lstStyle/>
          <a:p>
            <a:pPr>
              <a:defRPr sz="800" b="0">
                <a:solidFill>
                  <a:srgbClr val="5F6C78"/>
                </a:solidFill>
                <a:latin typeface="Aptos"/>
              </a:defRPr>
            </a:pPr>
            <a:r>
              <a:rPr dirty="0"/>
              <a:t>C. Divya Sri  |  Retail Supply Chain Analytics  |  </a:t>
            </a:r>
            <a:r>
              <a:rPr lang="en-US" dirty="0"/>
              <a:t>13</a:t>
            </a:r>
            <a:endParaRPr dirty="0"/>
          </a:p>
        </p:txBody>
      </p:sp>
      <p:sp>
        <p:nvSpPr>
          <p:cNvPr id="12" name="TextBox 11">
            <a:extLst>
              <a:ext uri="{FF2B5EF4-FFF2-40B4-BE49-F238E27FC236}">
                <a16:creationId xmlns:a16="http://schemas.microsoft.com/office/drawing/2014/main" id="{C5E931B4-A04D-D487-9A1A-D33059BC0196}"/>
              </a:ext>
            </a:extLst>
          </p:cNvPr>
          <p:cNvSpPr txBox="1"/>
          <p:nvPr/>
        </p:nvSpPr>
        <p:spPr>
          <a:xfrm>
            <a:off x="798452" y="1105288"/>
            <a:ext cx="6096000" cy="338554"/>
          </a:xfrm>
          <a:prstGeom prst="rect">
            <a:avLst/>
          </a:prstGeom>
          <a:noFill/>
        </p:spPr>
        <p:txBody>
          <a:bodyPr wrap="square">
            <a:spAutoFit/>
          </a:bodyPr>
          <a:lstStyle/>
          <a:p>
            <a:r>
              <a:rPr lang="en-IN" sz="1600" b="1" dirty="0">
                <a:solidFill>
                  <a:srgbClr val="FF0000"/>
                </a:solidFill>
              </a:rPr>
              <a:t>Shipment Problems Analysis</a:t>
            </a:r>
          </a:p>
        </p:txBody>
      </p:sp>
      <p:sp>
        <p:nvSpPr>
          <p:cNvPr id="14" name="TextBox 13">
            <a:extLst>
              <a:ext uri="{FF2B5EF4-FFF2-40B4-BE49-F238E27FC236}">
                <a16:creationId xmlns:a16="http://schemas.microsoft.com/office/drawing/2014/main" id="{84E4E6F8-C033-6896-380A-75533F85D948}"/>
              </a:ext>
            </a:extLst>
          </p:cNvPr>
          <p:cNvSpPr txBox="1"/>
          <p:nvPr/>
        </p:nvSpPr>
        <p:spPr>
          <a:xfrm>
            <a:off x="798452" y="1828118"/>
            <a:ext cx="10588752" cy="3539430"/>
          </a:xfrm>
          <a:prstGeom prst="rect">
            <a:avLst/>
          </a:prstGeom>
          <a:noFill/>
        </p:spPr>
        <p:txBody>
          <a:bodyPr wrap="square">
            <a:spAutoFit/>
          </a:bodyPr>
          <a:lstStyle/>
          <a:p>
            <a:r>
              <a:rPr lang="en-IN" sz="1600" b="1" dirty="0"/>
              <a:t>Summary:</a:t>
            </a:r>
          </a:p>
          <a:p>
            <a:br>
              <a:rPr lang="en-IN" sz="1600" dirty="0"/>
            </a:br>
            <a:r>
              <a:rPr lang="en-IN" sz="1600" dirty="0"/>
              <a:t>This objective investigates shipment-related problems by examining repeated shipment attempts, attempt-number patterns, shipment statuses, and records associated with warehouses and suppliers. It also examines missing arrival dates to identify records that may require further review.</a:t>
            </a:r>
          </a:p>
          <a:p>
            <a:endParaRPr lang="en-IN" sz="1600" dirty="0"/>
          </a:p>
          <a:p>
            <a:r>
              <a:rPr lang="en-IN" sz="1600" b="1" dirty="0"/>
              <a:t>Analysis covered:</a:t>
            </a:r>
          </a:p>
          <a:p>
            <a:endParaRPr lang="en-IN" sz="1600" dirty="0"/>
          </a:p>
          <a:p>
            <a:pPr marL="285750" lvl="0" indent="-285750">
              <a:buFont typeface="Arial" panose="020B0604020202020204" pitchFamily="34" charset="0"/>
              <a:buChar char="•"/>
            </a:pPr>
            <a:r>
              <a:rPr lang="en-IN" sz="1600" dirty="0"/>
              <a:t>Counted shipment records with more than one recorded attempt.</a:t>
            </a:r>
          </a:p>
          <a:p>
            <a:pPr marL="285750" lvl="0" indent="-285750">
              <a:buFont typeface="Arial" panose="020B0604020202020204" pitchFamily="34" charset="0"/>
              <a:buChar char="•"/>
            </a:pPr>
            <a:r>
              <a:rPr lang="en-IN" sz="1600" dirty="0"/>
              <a:t>Analysed the distribution of shipment records by attempt number.</a:t>
            </a:r>
          </a:p>
          <a:p>
            <a:pPr marL="285750" lvl="0" indent="-285750">
              <a:buFont typeface="Arial" panose="020B0604020202020204" pitchFamily="34" charset="0"/>
              <a:buChar char="•"/>
            </a:pPr>
            <a:r>
              <a:rPr lang="en-IN" sz="1600" dirty="0"/>
              <a:t>Examined shipment statuses among records with repeated attempts.</a:t>
            </a:r>
          </a:p>
          <a:p>
            <a:pPr marL="285750" lvl="0" indent="-285750">
              <a:buFont typeface="Arial" panose="020B0604020202020204" pitchFamily="34" charset="0"/>
              <a:buChar char="•"/>
            </a:pPr>
            <a:r>
              <a:rPr lang="en-IN" sz="1600" dirty="0"/>
              <a:t>Compared warehouses based on repeated-attempt shipment records.</a:t>
            </a:r>
          </a:p>
          <a:p>
            <a:pPr marL="285750" lvl="0" indent="-285750">
              <a:buFont typeface="Arial" panose="020B0604020202020204" pitchFamily="34" charset="0"/>
              <a:buChar char="•"/>
            </a:pPr>
            <a:r>
              <a:rPr lang="en-IN" sz="1600" dirty="0"/>
              <a:t>Compared suppliers based on repeated-attempt shipment records.</a:t>
            </a:r>
          </a:p>
          <a:p>
            <a:pPr marL="285750" lvl="0" indent="-285750">
              <a:buFont typeface="Arial" panose="020B0604020202020204" pitchFamily="34" charset="0"/>
              <a:buChar char="•"/>
            </a:pPr>
            <a:r>
              <a:rPr lang="en-IN" sz="1600" dirty="0"/>
              <a:t>Analysed missing arrival dates by shipment status to identify records requiring review.</a:t>
            </a:r>
          </a:p>
        </p:txBody>
      </p:sp>
    </p:spTree>
    <p:extLst>
      <p:ext uri="{BB962C8B-B14F-4D97-AF65-F5344CB8AC3E}">
        <p14:creationId xmlns:p14="http://schemas.microsoft.com/office/powerpoint/2010/main" val="3591231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78B573-40E5-77D1-778B-F58FAA7EA229}"/>
              </a:ext>
            </a:extLst>
          </p:cNvPr>
          <p:cNvSpPr txBox="1"/>
          <p:nvPr/>
        </p:nvSpPr>
        <p:spPr>
          <a:xfrm>
            <a:off x="676656" y="297180"/>
            <a:ext cx="11155680" cy="475488"/>
          </a:xfrm>
          <a:prstGeom prst="rect">
            <a:avLst/>
          </a:prstGeom>
          <a:noFill/>
        </p:spPr>
        <p:txBody>
          <a:bodyPr wrap="square" lIns="73152" tIns="73152" rIns="73152" bIns="73152" anchor="t">
            <a:spAutoFit/>
          </a:bodyPr>
          <a:lstStyle/>
          <a:p>
            <a:pPr algn="l">
              <a:spcAft>
                <a:spcPts val="400"/>
              </a:spcAft>
            </a:pPr>
            <a:r>
              <a:rPr sz="2600" b="1" i="0" dirty="0">
                <a:solidFill>
                  <a:srgbClr val="18304E"/>
                </a:solidFill>
                <a:latin typeface="Aptos"/>
              </a:rPr>
              <a:t>Basic Analysis &amp; Data Exploration</a:t>
            </a:r>
          </a:p>
        </p:txBody>
      </p:sp>
      <p:sp>
        <p:nvSpPr>
          <p:cNvPr id="12" name="TextBox 11">
            <a:extLst>
              <a:ext uri="{FF2B5EF4-FFF2-40B4-BE49-F238E27FC236}">
                <a16:creationId xmlns:a16="http://schemas.microsoft.com/office/drawing/2014/main" id="{3CA116B2-D00F-5870-8F6A-E34F60A2B2E8}"/>
              </a:ext>
            </a:extLst>
          </p:cNvPr>
          <p:cNvSpPr txBox="1"/>
          <p:nvPr/>
        </p:nvSpPr>
        <p:spPr>
          <a:xfrm>
            <a:off x="731520" y="896112"/>
            <a:ext cx="10972800" cy="347472"/>
          </a:xfrm>
          <a:prstGeom prst="rect">
            <a:avLst/>
          </a:prstGeom>
          <a:noFill/>
        </p:spPr>
        <p:txBody>
          <a:bodyPr wrap="square" lIns="73152" tIns="73152" rIns="73152" bIns="73152" anchor="t">
            <a:spAutoFit/>
          </a:bodyPr>
          <a:lstStyle/>
          <a:p>
            <a:pPr algn="l">
              <a:spcAft>
                <a:spcPts val="400"/>
              </a:spcAft>
            </a:pPr>
            <a:r>
              <a:rPr sz="1100" b="0" i="0" dirty="0">
                <a:solidFill>
                  <a:srgbClr val="64707D"/>
                </a:solidFill>
                <a:latin typeface="Aptos"/>
              </a:rPr>
              <a:t>Sprint 3: baseline checks before objective-based analysis</a:t>
            </a:r>
          </a:p>
        </p:txBody>
      </p:sp>
      <p:sp>
        <p:nvSpPr>
          <p:cNvPr id="16" name="Rounded Rectangle 10">
            <a:extLst>
              <a:ext uri="{FF2B5EF4-FFF2-40B4-BE49-F238E27FC236}">
                <a16:creationId xmlns:a16="http://schemas.microsoft.com/office/drawing/2014/main" id="{F7D5E3E6-B39D-3165-081D-45B4D88394B9}"/>
              </a:ext>
            </a:extLst>
          </p:cNvPr>
          <p:cNvSpPr/>
          <p:nvPr/>
        </p:nvSpPr>
        <p:spPr>
          <a:xfrm>
            <a:off x="731520" y="1417320"/>
            <a:ext cx="5166360" cy="1115568"/>
          </a:xfrm>
          <a:prstGeom prst="roundRect">
            <a:avLst/>
          </a:prstGeom>
          <a:solidFill>
            <a:srgbClr val="F7F9F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a:extLst>
              <a:ext uri="{FF2B5EF4-FFF2-40B4-BE49-F238E27FC236}">
                <a16:creationId xmlns:a16="http://schemas.microsoft.com/office/drawing/2014/main" id="{E89FCBB8-A7B4-648D-FA99-91105CF6FB7F}"/>
              </a:ext>
            </a:extLst>
          </p:cNvPr>
          <p:cNvSpPr/>
          <p:nvPr/>
        </p:nvSpPr>
        <p:spPr>
          <a:xfrm>
            <a:off x="731520" y="1417320"/>
            <a:ext cx="73152" cy="1115568"/>
          </a:xfrm>
          <a:prstGeom prst="rect">
            <a:avLst/>
          </a:prstGeom>
          <a:solidFill>
            <a:srgbClr val="2367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DEE3DBE4-9DEE-A052-DD2A-D9613645A8C8}"/>
              </a:ext>
            </a:extLst>
          </p:cNvPr>
          <p:cNvSpPr txBox="1"/>
          <p:nvPr/>
        </p:nvSpPr>
        <p:spPr>
          <a:xfrm>
            <a:off x="896112" y="1508760"/>
            <a:ext cx="4910328" cy="329184"/>
          </a:xfrm>
          <a:prstGeom prst="rect">
            <a:avLst/>
          </a:prstGeom>
          <a:noFill/>
        </p:spPr>
        <p:txBody>
          <a:bodyPr wrap="square" lIns="73152" tIns="73152" rIns="73152" bIns="73152" anchor="t">
            <a:spAutoFit/>
          </a:bodyPr>
          <a:lstStyle/>
          <a:p>
            <a:pPr algn="l">
              <a:spcAft>
                <a:spcPts val="400"/>
              </a:spcAft>
            </a:pPr>
            <a:r>
              <a:rPr sz="1500" b="1" i="0">
                <a:solidFill>
                  <a:srgbClr val="18304E"/>
                </a:solidFill>
                <a:latin typeface="Aptos"/>
              </a:rPr>
              <a:t>Dataset size</a:t>
            </a:r>
          </a:p>
        </p:txBody>
      </p:sp>
      <p:sp>
        <p:nvSpPr>
          <p:cNvPr id="22" name="TextBox 21">
            <a:extLst>
              <a:ext uri="{FF2B5EF4-FFF2-40B4-BE49-F238E27FC236}">
                <a16:creationId xmlns:a16="http://schemas.microsoft.com/office/drawing/2014/main" id="{5A493FE7-9760-DE26-F09F-E3C830FE0F5C}"/>
              </a:ext>
            </a:extLst>
          </p:cNvPr>
          <p:cNvSpPr txBox="1"/>
          <p:nvPr/>
        </p:nvSpPr>
        <p:spPr>
          <a:xfrm>
            <a:off x="896112" y="1874519"/>
            <a:ext cx="4892040" cy="585216"/>
          </a:xfrm>
          <a:prstGeom prst="rect">
            <a:avLst/>
          </a:prstGeom>
          <a:noFill/>
        </p:spPr>
        <p:txBody>
          <a:bodyPr wrap="square" lIns="73152" tIns="73152" rIns="73152" bIns="73152" anchor="t">
            <a:spAutoFit/>
          </a:bodyPr>
          <a:lstStyle/>
          <a:p>
            <a:pPr algn="l">
              <a:spcAft>
                <a:spcPts val="400"/>
              </a:spcAft>
            </a:pPr>
            <a:r>
              <a:rPr sz="1400" b="0" i="0">
                <a:solidFill>
                  <a:srgbClr val="2A333F"/>
                </a:solidFill>
                <a:latin typeface="Aptos"/>
              </a:rPr>
              <a:t>Count warehouses, purchase orders, and shipment records.</a:t>
            </a:r>
          </a:p>
        </p:txBody>
      </p:sp>
      <p:sp>
        <p:nvSpPr>
          <p:cNvPr id="24" name="Rounded Rectangle 14">
            <a:extLst>
              <a:ext uri="{FF2B5EF4-FFF2-40B4-BE49-F238E27FC236}">
                <a16:creationId xmlns:a16="http://schemas.microsoft.com/office/drawing/2014/main" id="{6CD9D1B2-8453-8170-33EB-247D862CD905}"/>
              </a:ext>
            </a:extLst>
          </p:cNvPr>
          <p:cNvSpPr/>
          <p:nvPr/>
        </p:nvSpPr>
        <p:spPr>
          <a:xfrm>
            <a:off x="6217920" y="1417320"/>
            <a:ext cx="5166360" cy="1115568"/>
          </a:xfrm>
          <a:prstGeom prst="roundRect">
            <a:avLst/>
          </a:prstGeom>
          <a:solidFill>
            <a:srgbClr val="F7F9F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a:extLst>
              <a:ext uri="{FF2B5EF4-FFF2-40B4-BE49-F238E27FC236}">
                <a16:creationId xmlns:a16="http://schemas.microsoft.com/office/drawing/2014/main" id="{FC7B3A23-2D14-F4C5-42F4-7AED11191D7C}"/>
              </a:ext>
            </a:extLst>
          </p:cNvPr>
          <p:cNvSpPr/>
          <p:nvPr/>
        </p:nvSpPr>
        <p:spPr>
          <a:xfrm>
            <a:off x="6217920" y="1417320"/>
            <a:ext cx="73152" cy="1115568"/>
          </a:xfrm>
          <a:prstGeom prst="rect">
            <a:avLst/>
          </a:prstGeom>
          <a:solidFill>
            <a:srgbClr val="1B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F4F6392A-CD4E-54BF-0C1D-F06434016E2F}"/>
              </a:ext>
            </a:extLst>
          </p:cNvPr>
          <p:cNvSpPr txBox="1"/>
          <p:nvPr/>
        </p:nvSpPr>
        <p:spPr>
          <a:xfrm>
            <a:off x="6382512" y="1508760"/>
            <a:ext cx="4910328" cy="329184"/>
          </a:xfrm>
          <a:prstGeom prst="rect">
            <a:avLst/>
          </a:prstGeom>
          <a:noFill/>
        </p:spPr>
        <p:txBody>
          <a:bodyPr wrap="square" lIns="73152" tIns="73152" rIns="73152" bIns="73152" anchor="t">
            <a:spAutoFit/>
          </a:bodyPr>
          <a:lstStyle/>
          <a:p>
            <a:pPr algn="l">
              <a:spcAft>
                <a:spcPts val="400"/>
              </a:spcAft>
            </a:pPr>
            <a:r>
              <a:rPr sz="1500" b="1" i="0">
                <a:solidFill>
                  <a:srgbClr val="18304E"/>
                </a:solidFill>
                <a:latin typeface="Aptos"/>
              </a:rPr>
              <a:t>Product mix</a:t>
            </a:r>
          </a:p>
        </p:txBody>
      </p:sp>
      <p:sp>
        <p:nvSpPr>
          <p:cNvPr id="30" name="TextBox 29">
            <a:extLst>
              <a:ext uri="{FF2B5EF4-FFF2-40B4-BE49-F238E27FC236}">
                <a16:creationId xmlns:a16="http://schemas.microsoft.com/office/drawing/2014/main" id="{2D569B9A-B619-F8CF-DC8C-5F02A475414C}"/>
              </a:ext>
            </a:extLst>
          </p:cNvPr>
          <p:cNvSpPr txBox="1"/>
          <p:nvPr/>
        </p:nvSpPr>
        <p:spPr>
          <a:xfrm>
            <a:off x="6382512" y="1874519"/>
            <a:ext cx="4892040" cy="585216"/>
          </a:xfrm>
          <a:prstGeom prst="rect">
            <a:avLst/>
          </a:prstGeom>
          <a:noFill/>
        </p:spPr>
        <p:txBody>
          <a:bodyPr wrap="square" lIns="73152" tIns="73152" rIns="73152" bIns="73152" anchor="t">
            <a:spAutoFit/>
          </a:bodyPr>
          <a:lstStyle/>
          <a:p>
            <a:pPr algn="l">
              <a:spcAft>
                <a:spcPts val="400"/>
              </a:spcAft>
            </a:pPr>
            <a:r>
              <a:rPr sz="1400" b="0" i="0">
                <a:solidFill>
                  <a:srgbClr val="2A333F"/>
                </a:solidFill>
                <a:latin typeface="Aptos"/>
              </a:rPr>
              <a:t>List product categories and count purchase orders in each category.</a:t>
            </a:r>
          </a:p>
        </p:txBody>
      </p:sp>
      <p:sp>
        <p:nvSpPr>
          <p:cNvPr id="32" name="Rounded Rectangle 18">
            <a:extLst>
              <a:ext uri="{FF2B5EF4-FFF2-40B4-BE49-F238E27FC236}">
                <a16:creationId xmlns:a16="http://schemas.microsoft.com/office/drawing/2014/main" id="{75B33514-374B-048C-EE17-2C37D8E5AF74}"/>
              </a:ext>
            </a:extLst>
          </p:cNvPr>
          <p:cNvSpPr/>
          <p:nvPr/>
        </p:nvSpPr>
        <p:spPr>
          <a:xfrm>
            <a:off x="731520" y="2834640"/>
            <a:ext cx="5166360" cy="1115568"/>
          </a:xfrm>
          <a:prstGeom prst="roundRect">
            <a:avLst/>
          </a:prstGeom>
          <a:solidFill>
            <a:srgbClr val="F7F9F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066B286F-0AEA-1B9D-9C06-8CB2DCFB2F2F}"/>
              </a:ext>
            </a:extLst>
          </p:cNvPr>
          <p:cNvSpPr/>
          <p:nvPr/>
        </p:nvSpPr>
        <p:spPr>
          <a:xfrm>
            <a:off x="731520" y="2834640"/>
            <a:ext cx="73152" cy="1115568"/>
          </a:xfrm>
          <a:prstGeom prst="rect">
            <a:avLst/>
          </a:prstGeom>
          <a:solidFill>
            <a:srgbClr val="DD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EB6CD594-CE12-DB39-802D-09FD205D4293}"/>
              </a:ext>
            </a:extLst>
          </p:cNvPr>
          <p:cNvSpPr txBox="1"/>
          <p:nvPr/>
        </p:nvSpPr>
        <p:spPr>
          <a:xfrm>
            <a:off x="896112" y="2926080"/>
            <a:ext cx="4910328" cy="329184"/>
          </a:xfrm>
          <a:prstGeom prst="rect">
            <a:avLst/>
          </a:prstGeom>
          <a:noFill/>
        </p:spPr>
        <p:txBody>
          <a:bodyPr wrap="square" lIns="73152" tIns="73152" rIns="73152" bIns="73152" anchor="t">
            <a:spAutoFit/>
          </a:bodyPr>
          <a:lstStyle/>
          <a:p>
            <a:pPr algn="l">
              <a:spcAft>
                <a:spcPts val="400"/>
              </a:spcAft>
            </a:pPr>
            <a:r>
              <a:rPr sz="1500" b="1" i="0">
                <a:solidFill>
                  <a:srgbClr val="18304E"/>
                </a:solidFill>
                <a:latin typeface="Aptos"/>
              </a:rPr>
              <a:t>Staff &amp; fleet</a:t>
            </a:r>
          </a:p>
        </p:txBody>
      </p:sp>
      <p:sp>
        <p:nvSpPr>
          <p:cNvPr id="38" name="TextBox 37">
            <a:extLst>
              <a:ext uri="{FF2B5EF4-FFF2-40B4-BE49-F238E27FC236}">
                <a16:creationId xmlns:a16="http://schemas.microsoft.com/office/drawing/2014/main" id="{78FDCB94-0D66-CD81-274A-A634B8F402AA}"/>
              </a:ext>
            </a:extLst>
          </p:cNvPr>
          <p:cNvSpPr txBox="1"/>
          <p:nvPr/>
        </p:nvSpPr>
        <p:spPr>
          <a:xfrm>
            <a:off x="896112" y="3291840"/>
            <a:ext cx="4892040" cy="585216"/>
          </a:xfrm>
          <a:prstGeom prst="rect">
            <a:avLst/>
          </a:prstGeom>
          <a:noFill/>
        </p:spPr>
        <p:txBody>
          <a:bodyPr wrap="square" lIns="73152" tIns="73152" rIns="73152" bIns="73152" anchor="t">
            <a:spAutoFit/>
          </a:bodyPr>
          <a:lstStyle/>
          <a:p>
            <a:pPr algn="l">
              <a:spcAft>
                <a:spcPts val="400"/>
              </a:spcAft>
            </a:pPr>
            <a:r>
              <a:rPr sz="1400" b="0" i="0">
                <a:solidFill>
                  <a:srgbClr val="2A333F"/>
                </a:solidFill>
                <a:latin typeface="Aptos"/>
              </a:rPr>
              <a:t>Count staff by active status and vehicles by vehicle type.</a:t>
            </a:r>
          </a:p>
        </p:txBody>
      </p:sp>
      <p:sp>
        <p:nvSpPr>
          <p:cNvPr id="40" name="Rounded Rectangle 22">
            <a:extLst>
              <a:ext uri="{FF2B5EF4-FFF2-40B4-BE49-F238E27FC236}">
                <a16:creationId xmlns:a16="http://schemas.microsoft.com/office/drawing/2014/main" id="{5441AA19-FCC3-A80C-8AD7-DB3856B9A556}"/>
              </a:ext>
            </a:extLst>
          </p:cNvPr>
          <p:cNvSpPr/>
          <p:nvPr/>
        </p:nvSpPr>
        <p:spPr>
          <a:xfrm>
            <a:off x="6217920" y="2834640"/>
            <a:ext cx="5166360" cy="1115568"/>
          </a:xfrm>
          <a:prstGeom prst="roundRect">
            <a:avLst/>
          </a:prstGeom>
          <a:solidFill>
            <a:srgbClr val="F7F9F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a:extLst>
              <a:ext uri="{FF2B5EF4-FFF2-40B4-BE49-F238E27FC236}">
                <a16:creationId xmlns:a16="http://schemas.microsoft.com/office/drawing/2014/main" id="{3205C508-42DA-F976-F205-B00CB207CF4A}"/>
              </a:ext>
            </a:extLst>
          </p:cNvPr>
          <p:cNvSpPr/>
          <p:nvPr/>
        </p:nvSpPr>
        <p:spPr>
          <a:xfrm>
            <a:off x="6217920" y="2834640"/>
            <a:ext cx="73152" cy="1115568"/>
          </a:xfrm>
          <a:prstGeom prst="rect">
            <a:avLst/>
          </a:prstGeom>
          <a:solidFill>
            <a:srgbClr val="3180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DD5CE6E3-1F8C-815E-2E7D-AB933DA00784}"/>
              </a:ext>
            </a:extLst>
          </p:cNvPr>
          <p:cNvSpPr txBox="1"/>
          <p:nvPr/>
        </p:nvSpPr>
        <p:spPr>
          <a:xfrm>
            <a:off x="6382512" y="2926080"/>
            <a:ext cx="4910328" cy="329184"/>
          </a:xfrm>
          <a:prstGeom prst="rect">
            <a:avLst/>
          </a:prstGeom>
          <a:noFill/>
        </p:spPr>
        <p:txBody>
          <a:bodyPr wrap="square" lIns="73152" tIns="73152" rIns="73152" bIns="73152" anchor="t">
            <a:spAutoFit/>
          </a:bodyPr>
          <a:lstStyle/>
          <a:p>
            <a:pPr algn="l">
              <a:spcAft>
                <a:spcPts val="400"/>
              </a:spcAft>
            </a:pPr>
            <a:r>
              <a:rPr sz="1500" b="1" i="0">
                <a:solidFill>
                  <a:srgbClr val="18304E"/>
                </a:solidFill>
                <a:latin typeface="Aptos"/>
              </a:rPr>
              <a:t>Order value</a:t>
            </a:r>
          </a:p>
        </p:txBody>
      </p:sp>
      <p:sp>
        <p:nvSpPr>
          <p:cNvPr id="46" name="TextBox 45">
            <a:extLst>
              <a:ext uri="{FF2B5EF4-FFF2-40B4-BE49-F238E27FC236}">
                <a16:creationId xmlns:a16="http://schemas.microsoft.com/office/drawing/2014/main" id="{1404ADD3-34DE-5F38-05E0-3928D1F209FF}"/>
              </a:ext>
            </a:extLst>
          </p:cNvPr>
          <p:cNvSpPr txBox="1"/>
          <p:nvPr/>
        </p:nvSpPr>
        <p:spPr>
          <a:xfrm>
            <a:off x="6382512" y="3291840"/>
            <a:ext cx="4892040" cy="585216"/>
          </a:xfrm>
          <a:prstGeom prst="rect">
            <a:avLst/>
          </a:prstGeom>
          <a:noFill/>
        </p:spPr>
        <p:txBody>
          <a:bodyPr wrap="square" lIns="73152" tIns="73152" rIns="73152" bIns="73152" anchor="t">
            <a:spAutoFit/>
          </a:bodyPr>
          <a:lstStyle/>
          <a:p>
            <a:pPr algn="l">
              <a:spcAft>
                <a:spcPts val="400"/>
              </a:spcAft>
            </a:pPr>
            <a:r>
              <a:rPr sz="1400" b="0" i="0">
                <a:solidFill>
                  <a:srgbClr val="2A333F"/>
                </a:solidFill>
                <a:latin typeface="Aptos"/>
              </a:rPr>
              <a:t>Calculate SUM(total_cost) across purchase orders.</a:t>
            </a:r>
          </a:p>
        </p:txBody>
      </p:sp>
      <p:sp>
        <p:nvSpPr>
          <p:cNvPr id="48" name="Rounded Rectangle 26">
            <a:extLst>
              <a:ext uri="{FF2B5EF4-FFF2-40B4-BE49-F238E27FC236}">
                <a16:creationId xmlns:a16="http://schemas.microsoft.com/office/drawing/2014/main" id="{CF200661-2790-C693-07D8-16B9B0608CA1}"/>
              </a:ext>
            </a:extLst>
          </p:cNvPr>
          <p:cNvSpPr/>
          <p:nvPr/>
        </p:nvSpPr>
        <p:spPr>
          <a:xfrm>
            <a:off x="731520" y="4251960"/>
            <a:ext cx="5166360" cy="1115568"/>
          </a:xfrm>
          <a:prstGeom prst="roundRect">
            <a:avLst/>
          </a:prstGeom>
          <a:solidFill>
            <a:srgbClr val="F7F9F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a:extLst>
              <a:ext uri="{FF2B5EF4-FFF2-40B4-BE49-F238E27FC236}">
                <a16:creationId xmlns:a16="http://schemas.microsoft.com/office/drawing/2014/main" id="{58B25710-FEEF-518C-FA05-205BC0318077}"/>
              </a:ext>
            </a:extLst>
          </p:cNvPr>
          <p:cNvSpPr/>
          <p:nvPr/>
        </p:nvSpPr>
        <p:spPr>
          <a:xfrm>
            <a:off x="731520" y="4251960"/>
            <a:ext cx="73152" cy="1115568"/>
          </a:xfrm>
          <a:prstGeom prst="rect">
            <a:avLst/>
          </a:prstGeom>
          <a:solidFill>
            <a:srgbClr val="2367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9C3A4F9B-9B29-7B0A-F187-9D607D141DB3}"/>
              </a:ext>
            </a:extLst>
          </p:cNvPr>
          <p:cNvSpPr txBox="1"/>
          <p:nvPr/>
        </p:nvSpPr>
        <p:spPr>
          <a:xfrm>
            <a:off x="896112" y="4343400"/>
            <a:ext cx="4910328" cy="329184"/>
          </a:xfrm>
          <a:prstGeom prst="rect">
            <a:avLst/>
          </a:prstGeom>
          <a:noFill/>
        </p:spPr>
        <p:txBody>
          <a:bodyPr wrap="square" lIns="73152" tIns="73152" rIns="73152" bIns="73152" anchor="t">
            <a:spAutoFit/>
          </a:bodyPr>
          <a:lstStyle/>
          <a:p>
            <a:pPr algn="l">
              <a:spcAft>
                <a:spcPts val="400"/>
              </a:spcAft>
            </a:pPr>
            <a:r>
              <a:rPr sz="1500" b="1" i="0">
                <a:solidFill>
                  <a:srgbClr val="18304E"/>
                </a:solidFill>
                <a:latin typeface="Aptos"/>
              </a:rPr>
              <a:t>Order quantity</a:t>
            </a:r>
          </a:p>
        </p:txBody>
      </p:sp>
      <p:sp>
        <p:nvSpPr>
          <p:cNvPr id="54" name="TextBox 53">
            <a:extLst>
              <a:ext uri="{FF2B5EF4-FFF2-40B4-BE49-F238E27FC236}">
                <a16:creationId xmlns:a16="http://schemas.microsoft.com/office/drawing/2014/main" id="{DDB45ADC-52A6-CF49-A862-99C53CBBD5EF}"/>
              </a:ext>
            </a:extLst>
          </p:cNvPr>
          <p:cNvSpPr txBox="1"/>
          <p:nvPr/>
        </p:nvSpPr>
        <p:spPr>
          <a:xfrm>
            <a:off x="896112" y="4709160"/>
            <a:ext cx="4892040" cy="585216"/>
          </a:xfrm>
          <a:prstGeom prst="rect">
            <a:avLst/>
          </a:prstGeom>
          <a:noFill/>
        </p:spPr>
        <p:txBody>
          <a:bodyPr wrap="square" lIns="73152" tIns="73152" rIns="73152" bIns="73152" anchor="t">
            <a:spAutoFit/>
          </a:bodyPr>
          <a:lstStyle/>
          <a:p>
            <a:pPr algn="l">
              <a:spcAft>
                <a:spcPts val="400"/>
              </a:spcAft>
            </a:pPr>
            <a:r>
              <a:rPr sz="1400" b="0" i="0">
                <a:solidFill>
                  <a:srgbClr val="2A333F"/>
                </a:solidFill>
                <a:latin typeface="Aptos"/>
              </a:rPr>
              <a:t>Calculate AVG(quantity_ordered) per purchase-order record.</a:t>
            </a:r>
          </a:p>
        </p:txBody>
      </p:sp>
      <p:sp>
        <p:nvSpPr>
          <p:cNvPr id="56" name="TextBox 55">
            <a:extLst>
              <a:ext uri="{FF2B5EF4-FFF2-40B4-BE49-F238E27FC236}">
                <a16:creationId xmlns:a16="http://schemas.microsoft.com/office/drawing/2014/main" id="{509034AC-A52D-407F-E1C6-4D8B33BF0F76}"/>
              </a:ext>
            </a:extLst>
          </p:cNvPr>
          <p:cNvSpPr txBox="1"/>
          <p:nvPr/>
        </p:nvSpPr>
        <p:spPr>
          <a:xfrm>
            <a:off x="749611" y="5641848"/>
            <a:ext cx="10607040" cy="320040"/>
          </a:xfrm>
          <a:prstGeom prst="rect">
            <a:avLst/>
          </a:prstGeom>
          <a:noFill/>
        </p:spPr>
        <p:txBody>
          <a:bodyPr wrap="square" lIns="73152" tIns="73152" rIns="73152" bIns="73152" anchor="t">
            <a:spAutoFit/>
          </a:bodyPr>
          <a:lstStyle/>
          <a:p>
            <a:pPr algn="l">
              <a:spcAft>
                <a:spcPts val="400"/>
              </a:spcAft>
            </a:pPr>
            <a:r>
              <a:rPr sz="1200" b="0" i="1">
                <a:solidFill>
                  <a:srgbClr val="64707D"/>
                </a:solidFill>
                <a:latin typeface="Aptos"/>
              </a:rPr>
              <a:t>Data checks also covered row counts, duplicate IDs, and relationship validity.</a:t>
            </a:r>
          </a:p>
        </p:txBody>
      </p:sp>
      <p:sp>
        <p:nvSpPr>
          <p:cNvPr id="58" name="TextBox 57">
            <a:extLst>
              <a:ext uri="{FF2B5EF4-FFF2-40B4-BE49-F238E27FC236}">
                <a16:creationId xmlns:a16="http://schemas.microsoft.com/office/drawing/2014/main" id="{D8224C3D-1715-BF3D-6B6B-4B1FFDF4356D}"/>
              </a:ext>
            </a:extLst>
          </p:cNvPr>
          <p:cNvSpPr txBox="1"/>
          <p:nvPr/>
        </p:nvSpPr>
        <p:spPr>
          <a:xfrm>
            <a:off x="530352" y="6530822"/>
            <a:ext cx="10972800" cy="215444"/>
          </a:xfrm>
          <a:prstGeom prst="rect">
            <a:avLst/>
          </a:prstGeom>
          <a:noFill/>
        </p:spPr>
        <p:txBody>
          <a:bodyPr wrap="square" anchor="ctr">
            <a:spAutoFit/>
          </a:bodyPr>
          <a:lstStyle/>
          <a:p>
            <a:pPr>
              <a:defRPr sz="800" b="0">
                <a:solidFill>
                  <a:srgbClr val="5F6C78"/>
                </a:solidFill>
                <a:latin typeface="Aptos"/>
              </a:defRPr>
            </a:pPr>
            <a:r>
              <a:rPr dirty="0"/>
              <a:t>C. Divya Sri  |  Retail Supply Chain Analytics  |  </a:t>
            </a:r>
            <a:r>
              <a:rPr lang="en-US" dirty="0"/>
              <a:t>14</a:t>
            </a:r>
            <a:endParaRPr dirty="0"/>
          </a:p>
        </p:txBody>
      </p:sp>
    </p:spTree>
    <p:extLst>
      <p:ext uri="{BB962C8B-B14F-4D97-AF65-F5344CB8AC3E}">
        <p14:creationId xmlns:p14="http://schemas.microsoft.com/office/powerpoint/2010/main" val="4100605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a:xfrm>
            <a:off x="0" y="0"/>
            <a:ext cx="12192000"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401511"/>
            <a:ext cx="11155680" cy="594360"/>
          </a:xfrm>
          <a:prstGeom prst="rect">
            <a:avLst/>
          </a:prstGeom>
          <a:noFill/>
        </p:spPr>
        <p:txBody>
          <a:bodyPr wrap="square" anchor="ctr">
            <a:spAutoFit/>
          </a:bodyPr>
          <a:lstStyle/>
          <a:p>
            <a:pPr>
              <a:defRPr sz="2600" b="1">
                <a:solidFill>
                  <a:srgbClr val="193152"/>
                </a:solidFill>
                <a:latin typeface="Aptos"/>
              </a:defRPr>
            </a:pPr>
            <a:r>
              <a:rPr dirty="0"/>
              <a:t>Overall Key Findings</a:t>
            </a:r>
          </a:p>
        </p:txBody>
      </p:sp>
      <p:sp>
        <p:nvSpPr>
          <p:cNvPr id="11" name="TextBox 10"/>
          <p:cNvSpPr txBox="1"/>
          <p:nvPr/>
        </p:nvSpPr>
        <p:spPr>
          <a:xfrm>
            <a:off x="713232" y="6456489"/>
            <a:ext cx="10972800" cy="215444"/>
          </a:xfrm>
          <a:prstGeom prst="rect">
            <a:avLst/>
          </a:prstGeom>
          <a:noFill/>
        </p:spPr>
        <p:txBody>
          <a:bodyPr wrap="square" anchor="ctr">
            <a:spAutoFit/>
          </a:bodyPr>
          <a:lstStyle/>
          <a:p>
            <a:pPr>
              <a:defRPr sz="800" b="0">
                <a:solidFill>
                  <a:srgbClr val="5F6C78"/>
                </a:solidFill>
                <a:latin typeface="Aptos"/>
              </a:defRPr>
            </a:pPr>
            <a:r>
              <a:rPr dirty="0"/>
              <a:t>C. Divya Sri  |  Retail Supply Chain Analytics  |  </a:t>
            </a:r>
            <a:r>
              <a:rPr lang="en-US" dirty="0"/>
              <a:t>15</a:t>
            </a:r>
            <a:endParaRPr dirty="0"/>
          </a:p>
        </p:txBody>
      </p:sp>
      <p:sp>
        <p:nvSpPr>
          <p:cNvPr id="12" name="Rounded Rectangle 11"/>
          <p:cNvSpPr/>
          <p:nvPr/>
        </p:nvSpPr>
        <p:spPr>
          <a:xfrm>
            <a:off x="640080" y="1234440"/>
            <a:ext cx="3520440" cy="123444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1234440"/>
            <a:ext cx="73152" cy="123444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1325880"/>
            <a:ext cx="3264408" cy="347472"/>
          </a:xfrm>
          <a:prstGeom prst="rect">
            <a:avLst/>
          </a:prstGeom>
          <a:noFill/>
        </p:spPr>
        <p:txBody>
          <a:bodyPr wrap="square" anchor="ctr">
            <a:spAutoFit/>
          </a:bodyPr>
          <a:lstStyle/>
          <a:p>
            <a:pPr>
              <a:defRPr sz="1600" b="1">
                <a:solidFill>
                  <a:srgbClr val="193152"/>
                </a:solidFill>
                <a:latin typeface="Aptos"/>
              </a:defRPr>
            </a:pPr>
            <a:r>
              <a:rPr dirty="0"/>
              <a:t>Purchase orders</a:t>
            </a:r>
          </a:p>
        </p:txBody>
      </p:sp>
      <p:sp>
        <p:nvSpPr>
          <p:cNvPr id="15" name="TextBox 14"/>
          <p:cNvSpPr txBox="1"/>
          <p:nvPr/>
        </p:nvSpPr>
        <p:spPr>
          <a:xfrm>
            <a:off x="804671" y="1709928"/>
            <a:ext cx="3246120" cy="685800"/>
          </a:xfrm>
          <a:prstGeom prst="rect">
            <a:avLst/>
          </a:prstGeom>
          <a:noFill/>
        </p:spPr>
        <p:txBody>
          <a:bodyPr wrap="square" lIns="18288" tIns="18288" rIns="27432" bIns="18288">
            <a:spAutoFit/>
          </a:bodyPr>
          <a:lstStyle/>
          <a:p>
            <a:pPr>
              <a:spcAft>
                <a:spcPts val="400"/>
              </a:spcAft>
              <a:defRPr sz="1700">
                <a:solidFill>
                  <a:srgbClr val="2D3741"/>
                </a:solidFill>
                <a:latin typeface="Aptos"/>
              </a:defRPr>
            </a:pPr>
            <a:r>
              <a:t>5,000 orders</a:t>
            </a:r>
          </a:p>
        </p:txBody>
      </p:sp>
      <p:sp>
        <p:nvSpPr>
          <p:cNvPr id="16" name="Rounded Rectangle 15"/>
          <p:cNvSpPr/>
          <p:nvPr/>
        </p:nvSpPr>
        <p:spPr>
          <a:xfrm>
            <a:off x="4343400" y="1234440"/>
            <a:ext cx="3520440" cy="123444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1234440"/>
            <a:ext cx="73152" cy="1234440"/>
          </a:xfrm>
          <a:prstGeom prst="rect">
            <a:avLst/>
          </a:prstGeom>
          <a:solidFill>
            <a:srgbClr val="266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16552" y="1325880"/>
            <a:ext cx="3264408" cy="347472"/>
          </a:xfrm>
          <a:prstGeom prst="rect">
            <a:avLst/>
          </a:prstGeom>
          <a:noFill/>
        </p:spPr>
        <p:txBody>
          <a:bodyPr wrap="square" anchor="ctr">
            <a:spAutoFit/>
          </a:bodyPr>
          <a:lstStyle/>
          <a:p>
            <a:pPr>
              <a:defRPr sz="1600" b="1">
                <a:solidFill>
                  <a:srgbClr val="193152"/>
                </a:solidFill>
                <a:latin typeface="Aptos"/>
              </a:defRPr>
            </a:pPr>
            <a:r>
              <a:rPr dirty="0"/>
              <a:t>Shipment records</a:t>
            </a:r>
          </a:p>
        </p:txBody>
      </p:sp>
      <p:sp>
        <p:nvSpPr>
          <p:cNvPr id="19" name="TextBox 18"/>
          <p:cNvSpPr txBox="1"/>
          <p:nvPr/>
        </p:nvSpPr>
        <p:spPr>
          <a:xfrm>
            <a:off x="4507992" y="1709928"/>
            <a:ext cx="3246120" cy="685800"/>
          </a:xfrm>
          <a:prstGeom prst="rect">
            <a:avLst/>
          </a:prstGeom>
          <a:noFill/>
        </p:spPr>
        <p:txBody>
          <a:bodyPr wrap="square" lIns="18288" tIns="18288" rIns="27432" bIns="18288">
            <a:spAutoFit/>
          </a:bodyPr>
          <a:lstStyle/>
          <a:p>
            <a:pPr>
              <a:spcAft>
                <a:spcPts val="400"/>
              </a:spcAft>
              <a:defRPr sz="1700">
                <a:solidFill>
                  <a:srgbClr val="2D3741"/>
                </a:solidFill>
                <a:latin typeface="Aptos"/>
              </a:defRPr>
            </a:pPr>
            <a:r>
              <a:t>5,800 shipments</a:t>
            </a:r>
          </a:p>
        </p:txBody>
      </p:sp>
      <p:sp>
        <p:nvSpPr>
          <p:cNvPr id="20" name="Rounded Rectangle 19"/>
          <p:cNvSpPr/>
          <p:nvPr/>
        </p:nvSpPr>
        <p:spPr>
          <a:xfrm>
            <a:off x="8046720" y="1234440"/>
            <a:ext cx="3520440" cy="123444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6720" y="1234440"/>
            <a:ext cx="73152" cy="1234440"/>
          </a:xfrm>
          <a:prstGeom prst="rect">
            <a:avLst/>
          </a:prstGeom>
          <a:solidFill>
            <a:srgbClr val="E187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19872" y="1325880"/>
            <a:ext cx="3264408" cy="347472"/>
          </a:xfrm>
          <a:prstGeom prst="rect">
            <a:avLst/>
          </a:prstGeom>
          <a:noFill/>
        </p:spPr>
        <p:txBody>
          <a:bodyPr wrap="square" anchor="ctr">
            <a:spAutoFit/>
          </a:bodyPr>
          <a:lstStyle/>
          <a:p>
            <a:pPr>
              <a:defRPr sz="1600" b="1">
                <a:solidFill>
                  <a:srgbClr val="193152"/>
                </a:solidFill>
                <a:latin typeface="Aptos"/>
              </a:defRPr>
            </a:pPr>
            <a:r>
              <a:rPr dirty="0"/>
              <a:t>Recorded order cost</a:t>
            </a:r>
          </a:p>
        </p:txBody>
      </p:sp>
      <p:sp>
        <p:nvSpPr>
          <p:cNvPr id="23" name="TextBox 22"/>
          <p:cNvSpPr txBox="1"/>
          <p:nvPr/>
        </p:nvSpPr>
        <p:spPr>
          <a:xfrm>
            <a:off x="8211312" y="1709928"/>
            <a:ext cx="3246120" cy="685800"/>
          </a:xfrm>
          <a:prstGeom prst="rect">
            <a:avLst/>
          </a:prstGeom>
          <a:noFill/>
        </p:spPr>
        <p:txBody>
          <a:bodyPr wrap="square" lIns="18288" tIns="18288" rIns="27432" bIns="18288">
            <a:spAutoFit/>
          </a:bodyPr>
          <a:lstStyle/>
          <a:p>
            <a:pPr>
              <a:spcAft>
                <a:spcPts val="400"/>
              </a:spcAft>
              <a:defRPr sz="1300">
                <a:solidFill>
                  <a:srgbClr val="2D3741"/>
                </a:solidFill>
                <a:latin typeface="Aptos"/>
              </a:defRPr>
            </a:pPr>
            <a:r>
              <a:t>4,093,689,531.08 (currency not specified)</a:t>
            </a:r>
          </a:p>
        </p:txBody>
      </p:sp>
      <p:sp>
        <p:nvSpPr>
          <p:cNvPr id="24" name="Rounded Rectangle 23"/>
          <p:cNvSpPr/>
          <p:nvPr/>
        </p:nvSpPr>
        <p:spPr>
          <a:xfrm>
            <a:off x="640080" y="2743200"/>
            <a:ext cx="5257800" cy="123444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 y="2743200"/>
            <a:ext cx="73152" cy="1234440"/>
          </a:xfrm>
          <a:prstGeom prst="rect">
            <a:avLst/>
          </a:prstGeom>
          <a:solidFill>
            <a:srgbClr val="2A82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2000" y="2834640"/>
            <a:ext cx="5001768" cy="347472"/>
          </a:xfrm>
          <a:prstGeom prst="rect">
            <a:avLst/>
          </a:prstGeom>
          <a:noFill/>
        </p:spPr>
        <p:txBody>
          <a:bodyPr wrap="square" anchor="ctr">
            <a:spAutoFit/>
          </a:bodyPr>
          <a:lstStyle/>
          <a:p>
            <a:pPr>
              <a:defRPr sz="1600" b="1">
                <a:solidFill>
                  <a:srgbClr val="193152"/>
                </a:solidFill>
                <a:latin typeface="Aptos"/>
              </a:defRPr>
            </a:pPr>
            <a:r>
              <a:rPr dirty="0"/>
              <a:t>Largest order category</a:t>
            </a:r>
          </a:p>
        </p:txBody>
      </p:sp>
      <p:sp>
        <p:nvSpPr>
          <p:cNvPr id="27" name="TextBox 26"/>
          <p:cNvSpPr txBox="1"/>
          <p:nvPr/>
        </p:nvSpPr>
        <p:spPr>
          <a:xfrm>
            <a:off x="804671" y="3218688"/>
            <a:ext cx="4983480" cy="685800"/>
          </a:xfrm>
          <a:prstGeom prst="rect">
            <a:avLst/>
          </a:prstGeom>
          <a:noFill/>
        </p:spPr>
        <p:txBody>
          <a:bodyPr wrap="square" lIns="18288" tIns="18288" rIns="27432" bIns="18288">
            <a:spAutoFit/>
          </a:bodyPr>
          <a:lstStyle/>
          <a:p>
            <a:pPr>
              <a:spcAft>
                <a:spcPts val="400"/>
              </a:spcAft>
              <a:defRPr sz="1500">
                <a:solidFill>
                  <a:srgbClr val="2D3741"/>
                </a:solidFill>
                <a:latin typeface="Aptos"/>
              </a:defRPr>
            </a:pPr>
            <a:r>
              <a:t>Grocery: 1,406 purchase orders</a:t>
            </a:r>
          </a:p>
        </p:txBody>
      </p:sp>
      <p:sp>
        <p:nvSpPr>
          <p:cNvPr id="28" name="Rounded Rectangle 27"/>
          <p:cNvSpPr/>
          <p:nvPr/>
        </p:nvSpPr>
        <p:spPr>
          <a:xfrm>
            <a:off x="6172200" y="2743200"/>
            <a:ext cx="5257800" cy="123444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72200" y="2743200"/>
            <a:ext cx="73152" cy="123444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45352" y="2847531"/>
            <a:ext cx="5001768" cy="347472"/>
          </a:xfrm>
          <a:prstGeom prst="rect">
            <a:avLst/>
          </a:prstGeom>
          <a:noFill/>
        </p:spPr>
        <p:txBody>
          <a:bodyPr wrap="square" anchor="ctr">
            <a:spAutoFit/>
          </a:bodyPr>
          <a:lstStyle/>
          <a:p>
            <a:pPr>
              <a:defRPr sz="1600" b="1">
                <a:solidFill>
                  <a:srgbClr val="193152"/>
                </a:solidFill>
                <a:latin typeface="Aptos"/>
              </a:defRPr>
            </a:pPr>
            <a:r>
              <a:rPr dirty="0"/>
              <a:t>Highest order-count warehouse</a:t>
            </a:r>
          </a:p>
        </p:txBody>
      </p:sp>
      <p:sp>
        <p:nvSpPr>
          <p:cNvPr id="31" name="TextBox 30"/>
          <p:cNvSpPr txBox="1"/>
          <p:nvPr/>
        </p:nvSpPr>
        <p:spPr>
          <a:xfrm>
            <a:off x="6336792" y="3218688"/>
            <a:ext cx="4983480" cy="685800"/>
          </a:xfrm>
          <a:prstGeom prst="rect">
            <a:avLst/>
          </a:prstGeom>
          <a:noFill/>
        </p:spPr>
        <p:txBody>
          <a:bodyPr wrap="square" lIns="18288" tIns="18288" rIns="27432" bIns="18288">
            <a:spAutoFit/>
          </a:bodyPr>
          <a:lstStyle/>
          <a:p>
            <a:pPr>
              <a:spcAft>
                <a:spcPts val="400"/>
              </a:spcAft>
              <a:defRPr sz="1300">
                <a:solidFill>
                  <a:srgbClr val="2D3741"/>
                </a:solidFill>
                <a:latin typeface="Aptos"/>
              </a:defRPr>
            </a:pPr>
            <a:r>
              <a:t>NorthPeak Kochi Distribution Warehouse: 399 purchase orders</a:t>
            </a:r>
          </a:p>
        </p:txBody>
      </p:sp>
      <p:sp>
        <p:nvSpPr>
          <p:cNvPr id="32" name="Rounded Rectangle 31"/>
          <p:cNvSpPr/>
          <p:nvPr/>
        </p:nvSpPr>
        <p:spPr>
          <a:xfrm>
            <a:off x="640080" y="4251960"/>
            <a:ext cx="5257800" cy="123444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40080" y="4251960"/>
            <a:ext cx="73152" cy="1234440"/>
          </a:xfrm>
          <a:prstGeom prst="rect">
            <a:avLst/>
          </a:prstGeom>
          <a:solidFill>
            <a:srgbClr val="266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1520" y="4373118"/>
            <a:ext cx="5001768" cy="347472"/>
          </a:xfrm>
          <a:prstGeom prst="rect">
            <a:avLst/>
          </a:prstGeom>
          <a:noFill/>
        </p:spPr>
        <p:txBody>
          <a:bodyPr wrap="square" anchor="ctr">
            <a:spAutoFit/>
          </a:bodyPr>
          <a:lstStyle/>
          <a:p>
            <a:pPr>
              <a:defRPr sz="1600" b="1">
                <a:solidFill>
                  <a:srgbClr val="193152"/>
                </a:solidFill>
                <a:latin typeface="Aptos"/>
              </a:defRPr>
            </a:pPr>
            <a:r>
              <a:t>Shipment status counts</a:t>
            </a:r>
          </a:p>
        </p:txBody>
      </p:sp>
      <p:sp>
        <p:nvSpPr>
          <p:cNvPr id="35" name="TextBox 34"/>
          <p:cNvSpPr txBox="1"/>
          <p:nvPr/>
        </p:nvSpPr>
        <p:spPr>
          <a:xfrm>
            <a:off x="804671" y="4727448"/>
            <a:ext cx="4983480" cy="685800"/>
          </a:xfrm>
          <a:prstGeom prst="rect">
            <a:avLst/>
          </a:prstGeom>
          <a:noFill/>
        </p:spPr>
        <p:txBody>
          <a:bodyPr wrap="square" lIns="18288" tIns="18288" rIns="27432" bIns="18288">
            <a:spAutoFit/>
          </a:bodyPr>
          <a:lstStyle/>
          <a:p>
            <a:pPr>
              <a:spcAft>
                <a:spcPts val="400"/>
              </a:spcAft>
              <a:defRPr sz="1300">
                <a:solidFill>
                  <a:srgbClr val="2D3741"/>
                </a:solidFill>
                <a:latin typeface="Aptos"/>
              </a:defRPr>
            </a:pPr>
            <a:r>
              <a:t>Delivered 3,686 | Damaged 964</a:t>
            </a:r>
          </a:p>
          <a:p>
            <a:pPr>
              <a:spcAft>
                <a:spcPts val="400"/>
              </a:spcAft>
              <a:defRPr sz="1300">
                <a:solidFill>
                  <a:srgbClr val="2D3741"/>
                </a:solidFill>
                <a:latin typeface="Aptos"/>
              </a:defRPr>
            </a:pPr>
            <a:r>
              <a:t>Delayed 953 | In-Transit 197</a:t>
            </a:r>
          </a:p>
        </p:txBody>
      </p:sp>
      <p:sp>
        <p:nvSpPr>
          <p:cNvPr id="36" name="Rounded Rectangle 35"/>
          <p:cNvSpPr/>
          <p:nvPr/>
        </p:nvSpPr>
        <p:spPr>
          <a:xfrm>
            <a:off x="6172200" y="4251960"/>
            <a:ext cx="5257800" cy="123444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172200" y="4251960"/>
            <a:ext cx="73152" cy="1234440"/>
          </a:xfrm>
          <a:prstGeom prst="rect">
            <a:avLst/>
          </a:prstGeom>
          <a:solidFill>
            <a:srgbClr val="E187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63640" y="4340554"/>
            <a:ext cx="5001768" cy="347472"/>
          </a:xfrm>
          <a:prstGeom prst="rect">
            <a:avLst/>
          </a:prstGeom>
          <a:noFill/>
        </p:spPr>
        <p:txBody>
          <a:bodyPr wrap="square" anchor="ctr">
            <a:spAutoFit/>
          </a:bodyPr>
          <a:lstStyle/>
          <a:p>
            <a:pPr>
              <a:defRPr sz="1600" b="1">
                <a:solidFill>
                  <a:srgbClr val="193152"/>
                </a:solidFill>
                <a:latin typeface="Aptos"/>
              </a:defRPr>
            </a:pPr>
            <a:r>
              <a:rPr dirty="0"/>
              <a:t>Repeated-attempt records</a:t>
            </a:r>
          </a:p>
        </p:txBody>
      </p:sp>
      <p:sp>
        <p:nvSpPr>
          <p:cNvPr id="39" name="TextBox 38"/>
          <p:cNvSpPr txBox="1"/>
          <p:nvPr/>
        </p:nvSpPr>
        <p:spPr>
          <a:xfrm>
            <a:off x="6336792" y="4727448"/>
            <a:ext cx="4983480" cy="685800"/>
          </a:xfrm>
          <a:prstGeom prst="rect">
            <a:avLst/>
          </a:prstGeom>
          <a:noFill/>
        </p:spPr>
        <p:txBody>
          <a:bodyPr wrap="square" lIns="18288" tIns="18288" rIns="27432" bIns="18288">
            <a:spAutoFit/>
          </a:bodyPr>
          <a:lstStyle/>
          <a:p>
            <a:pPr>
              <a:spcAft>
                <a:spcPts val="400"/>
              </a:spcAft>
              <a:defRPr sz="1400">
                <a:solidFill>
                  <a:srgbClr val="2D3741"/>
                </a:solidFill>
                <a:latin typeface="Aptos"/>
              </a:defRPr>
            </a:pPr>
            <a:r>
              <a:t>1,050 shipment records have attempt number 2</a:t>
            </a:r>
          </a:p>
        </p:txBody>
      </p:sp>
      <p:sp>
        <p:nvSpPr>
          <p:cNvPr id="40" name="TextBox 39"/>
          <p:cNvSpPr txBox="1"/>
          <p:nvPr/>
        </p:nvSpPr>
        <p:spPr>
          <a:xfrm>
            <a:off x="741352" y="5715000"/>
            <a:ext cx="10789920" cy="365760"/>
          </a:xfrm>
          <a:prstGeom prst="rect">
            <a:avLst/>
          </a:prstGeom>
          <a:noFill/>
          <a:ln>
            <a:noFill/>
          </a:ln>
        </p:spPr>
        <p:txBody>
          <a:bodyPr wrap="square" lIns="109728" tIns="109728" rIns="109728" bIns="109728" anchor="t">
            <a:spAutoFit/>
          </a:bodyPr>
          <a:lstStyle/>
          <a:p>
            <a:pPr>
              <a:spcAft>
                <a:spcPts val="500"/>
              </a:spcAft>
              <a:defRPr sz="1100" b="0">
                <a:solidFill>
                  <a:srgbClr val="5F6C78"/>
                </a:solidFill>
                <a:latin typeface="Aptos"/>
              </a:defRPr>
            </a:pPr>
            <a:r>
              <a:t>Note: Findings describe this dataset only. They are not proof of causes or future performance.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6291703-E7A7-35E8-CCE2-D7D8DAC9DD00}"/>
              </a:ext>
            </a:extLst>
          </p:cNvPr>
          <p:cNvSpPr txBox="1"/>
          <p:nvPr/>
        </p:nvSpPr>
        <p:spPr>
          <a:xfrm>
            <a:off x="731520" y="246888"/>
            <a:ext cx="11155680" cy="475488"/>
          </a:xfrm>
          <a:prstGeom prst="rect">
            <a:avLst/>
          </a:prstGeom>
          <a:noFill/>
        </p:spPr>
        <p:txBody>
          <a:bodyPr wrap="square" lIns="73152" tIns="73152" rIns="73152" bIns="73152" anchor="t">
            <a:spAutoFit/>
          </a:bodyPr>
          <a:lstStyle/>
          <a:p>
            <a:pPr algn="l">
              <a:spcAft>
                <a:spcPts val="400"/>
              </a:spcAft>
            </a:pPr>
            <a:r>
              <a:rPr sz="2600" b="1" i="0" dirty="0">
                <a:solidFill>
                  <a:srgbClr val="18304E"/>
                </a:solidFill>
                <a:latin typeface="Aptos"/>
              </a:rPr>
              <a:t>Business Recommendations</a:t>
            </a:r>
          </a:p>
        </p:txBody>
      </p:sp>
      <p:sp>
        <p:nvSpPr>
          <p:cNvPr id="9" name="TextBox 8">
            <a:extLst>
              <a:ext uri="{FF2B5EF4-FFF2-40B4-BE49-F238E27FC236}">
                <a16:creationId xmlns:a16="http://schemas.microsoft.com/office/drawing/2014/main" id="{CF226466-A645-6681-C8F7-0849AACEFF00}"/>
              </a:ext>
            </a:extLst>
          </p:cNvPr>
          <p:cNvSpPr txBox="1"/>
          <p:nvPr/>
        </p:nvSpPr>
        <p:spPr>
          <a:xfrm>
            <a:off x="768096" y="886968"/>
            <a:ext cx="10972800" cy="347472"/>
          </a:xfrm>
          <a:prstGeom prst="rect">
            <a:avLst/>
          </a:prstGeom>
          <a:noFill/>
        </p:spPr>
        <p:txBody>
          <a:bodyPr wrap="square" lIns="73152" tIns="73152" rIns="73152" bIns="73152" anchor="t">
            <a:spAutoFit/>
          </a:bodyPr>
          <a:lstStyle/>
          <a:p>
            <a:pPr algn="l">
              <a:spcAft>
                <a:spcPts val="400"/>
              </a:spcAft>
            </a:pPr>
            <a:r>
              <a:rPr sz="1100" b="0" i="0" dirty="0">
                <a:solidFill>
                  <a:srgbClr val="64707D"/>
                </a:solidFill>
                <a:latin typeface="Aptos"/>
              </a:rPr>
              <a:t>Recommendations should be finalized after reviewing actual query results</a:t>
            </a:r>
          </a:p>
        </p:txBody>
      </p:sp>
      <p:sp>
        <p:nvSpPr>
          <p:cNvPr id="30" name="Rounded Rectangle 10">
            <a:extLst>
              <a:ext uri="{FF2B5EF4-FFF2-40B4-BE49-F238E27FC236}">
                <a16:creationId xmlns:a16="http://schemas.microsoft.com/office/drawing/2014/main" id="{78F65566-C301-44A2-816F-D30B2F3C25EC}"/>
              </a:ext>
            </a:extLst>
          </p:cNvPr>
          <p:cNvSpPr/>
          <p:nvPr/>
        </p:nvSpPr>
        <p:spPr>
          <a:xfrm>
            <a:off x="731520" y="1353312"/>
            <a:ext cx="10698480" cy="768096"/>
          </a:xfrm>
          <a:prstGeom prst="roundRect">
            <a:avLst/>
          </a:prstGeom>
          <a:solidFill>
            <a:srgbClr val="F7F9F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a:extLst>
              <a:ext uri="{FF2B5EF4-FFF2-40B4-BE49-F238E27FC236}">
                <a16:creationId xmlns:a16="http://schemas.microsoft.com/office/drawing/2014/main" id="{C7D2AD7A-9204-39E1-BA66-A85FE657D2FF}"/>
              </a:ext>
            </a:extLst>
          </p:cNvPr>
          <p:cNvSpPr/>
          <p:nvPr/>
        </p:nvSpPr>
        <p:spPr>
          <a:xfrm>
            <a:off x="731520" y="1353312"/>
            <a:ext cx="73152" cy="768096"/>
          </a:xfrm>
          <a:prstGeom prst="rect">
            <a:avLst/>
          </a:prstGeom>
          <a:solidFill>
            <a:srgbClr val="2367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B515F918-00F1-5877-6766-4644B9EFCF7D}"/>
              </a:ext>
            </a:extLst>
          </p:cNvPr>
          <p:cNvSpPr txBox="1"/>
          <p:nvPr/>
        </p:nvSpPr>
        <p:spPr>
          <a:xfrm>
            <a:off x="896112" y="1444752"/>
            <a:ext cx="10442448" cy="329184"/>
          </a:xfrm>
          <a:prstGeom prst="rect">
            <a:avLst/>
          </a:prstGeom>
          <a:noFill/>
        </p:spPr>
        <p:txBody>
          <a:bodyPr wrap="square" lIns="73152" tIns="73152" rIns="73152" bIns="73152" anchor="t">
            <a:spAutoFit/>
          </a:bodyPr>
          <a:lstStyle/>
          <a:p>
            <a:pPr algn="l">
              <a:spcAft>
                <a:spcPts val="400"/>
              </a:spcAft>
            </a:pPr>
            <a:r>
              <a:rPr sz="1500" b="1" i="0" dirty="0">
                <a:solidFill>
                  <a:srgbClr val="18304E"/>
                </a:solidFill>
                <a:latin typeface="Aptos"/>
              </a:rPr>
              <a:t>Warehouse planning</a:t>
            </a:r>
          </a:p>
        </p:txBody>
      </p:sp>
      <p:sp>
        <p:nvSpPr>
          <p:cNvPr id="33" name="TextBox 32">
            <a:extLst>
              <a:ext uri="{FF2B5EF4-FFF2-40B4-BE49-F238E27FC236}">
                <a16:creationId xmlns:a16="http://schemas.microsoft.com/office/drawing/2014/main" id="{7380E1B8-7CA1-F73D-B9B9-616C4842E13B}"/>
              </a:ext>
            </a:extLst>
          </p:cNvPr>
          <p:cNvSpPr txBox="1"/>
          <p:nvPr/>
        </p:nvSpPr>
        <p:spPr>
          <a:xfrm>
            <a:off x="896112" y="1810512"/>
            <a:ext cx="10424159" cy="237744"/>
          </a:xfrm>
          <a:prstGeom prst="rect">
            <a:avLst/>
          </a:prstGeom>
          <a:noFill/>
        </p:spPr>
        <p:txBody>
          <a:bodyPr wrap="square" lIns="73152" tIns="73152" rIns="73152" bIns="73152" anchor="t">
            <a:spAutoFit/>
          </a:bodyPr>
          <a:lstStyle/>
          <a:p>
            <a:pPr algn="l">
              <a:spcAft>
                <a:spcPts val="400"/>
              </a:spcAft>
            </a:pPr>
            <a:r>
              <a:rPr sz="1200" b="0" i="0" dirty="0">
                <a:solidFill>
                  <a:srgbClr val="2A333F"/>
                </a:solidFill>
                <a:latin typeface="Aptos"/>
              </a:rPr>
              <a:t>Review warehouses with consistently high order volume or total cost; compare with capacity and region before reallocating work.</a:t>
            </a:r>
          </a:p>
        </p:txBody>
      </p:sp>
      <p:sp>
        <p:nvSpPr>
          <p:cNvPr id="34" name="Rounded Rectangle 14">
            <a:extLst>
              <a:ext uri="{FF2B5EF4-FFF2-40B4-BE49-F238E27FC236}">
                <a16:creationId xmlns:a16="http://schemas.microsoft.com/office/drawing/2014/main" id="{4B31F6FE-5715-F224-DA38-0A5B9D189934}"/>
              </a:ext>
            </a:extLst>
          </p:cNvPr>
          <p:cNvSpPr/>
          <p:nvPr/>
        </p:nvSpPr>
        <p:spPr>
          <a:xfrm>
            <a:off x="731520" y="2286000"/>
            <a:ext cx="10698480" cy="768096"/>
          </a:xfrm>
          <a:prstGeom prst="roundRect">
            <a:avLst/>
          </a:prstGeom>
          <a:solidFill>
            <a:srgbClr val="F7F9F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a:extLst>
              <a:ext uri="{FF2B5EF4-FFF2-40B4-BE49-F238E27FC236}">
                <a16:creationId xmlns:a16="http://schemas.microsoft.com/office/drawing/2014/main" id="{E37A70CA-9348-9B34-7DA6-D96D111F8173}"/>
              </a:ext>
            </a:extLst>
          </p:cNvPr>
          <p:cNvSpPr/>
          <p:nvPr/>
        </p:nvSpPr>
        <p:spPr>
          <a:xfrm>
            <a:off x="731520" y="2286000"/>
            <a:ext cx="73152" cy="768096"/>
          </a:xfrm>
          <a:prstGeom prst="rect">
            <a:avLst/>
          </a:prstGeom>
          <a:solidFill>
            <a:srgbClr val="1B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54D722FD-52F6-22CE-955A-8D1A3B59AADF}"/>
              </a:ext>
            </a:extLst>
          </p:cNvPr>
          <p:cNvSpPr txBox="1"/>
          <p:nvPr/>
        </p:nvSpPr>
        <p:spPr>
          <a:xfrm>
            <a:off x="896112" y="2377440"/>
            <a:ext cx="10442448" cy="329184"/>
          </a:xfrm>
          <a:prstGeom prst="rect">
            <a:avLst/>
          </a:prstGeom>
          <a:noFill/>
        </p:spPr>
        <p:txBody>
          <a:bodyPr wrap="square" lIns="73152" tIns="73152" rIns="73152" bIns="73152" anchor="t">
            <a:spAutoFit/>
          </a:bodyPr>
          <a:lstStyle/>
          <a:p>
            <a:pPr algn="l">
              <a:spcAft>
                <a:spcPts val="400"/>
              </a:spcAft>
            </a:pPr>
            <a:r>
              <a:rPr sz="1500" b="1" i="0">
                <a:solidFill>
                  <a:srgbClr val="18304E"/>
                </a:solidFill>
                <a:latin typeface="Aptos"/>
              </a:rPr>
              <a:t>Supplier management</a:t>
            </a:r>
          </a:p>
        </p:txBody>
      </p:sp>
      <p:sp>
        <p:nvSpPr>
          <p:cNvPr id="37" name="TextBox 36">
            <a:extLst>
              <a:ext uri="{FF2B5EF4-FFF2-40B4-BE49-F238E27FC236}">
                <a16:creationId xmlns:a16="http://schemas.microsoft.com/office/drawing/2014/main" id="{12C85942-B703-E208-5AEF-EE01CEDF1E3F}"/>
              </a:ext>
            </a:extLst>
          </p:cNvPr>
          <p:cNvSpPr txBox="1"/>
          <p:nvPr/>
        </p:nvSpPr>
        <p:spPr>
          <a:xfrm>
            <a:off x="896112" y="2743200"/>
            <a:ext cx="10424159" cy="237744"/>
          </a:xfrm>
          <a:prstGeom prst="rect">
            <a:avLst/>
          </a:prstGeom>
          <a:noFill/>
        </p:spPr>
        <p:txBody>
          <a:bodyPr wrap="square" lIns="73152" tIns="73152" rIns="73152" bIns="73152" anchor="t">
            <a:spAutoFit/>
          </a:bodyPr>
          <a:lstStyle/>
          <a:p>
            <a:pPr algn="l">
              <a:spcAft>
                <a:spcPts val="400"/>
              </a:spcAft>
            </a:pPr>
            <a:r>
              <a:rPr sz="1200" b="0" i="0">
                <a:solidFill>
                  <a:srgbClr val="2A333F"/>
                </a:solidFill>
                <a:latin typeface="Aptos"/>
              </a:rPr>
              <a:t>Investigate supplier categories or individual suppliers with lower reliability ratings or weaker shipment outcomes.</a:t>
            </a:r>
          </a:p>
        </p:txBody>
      </p:sp>
      <p:sp>
        <p:nvSpPr>
          <p:cNvPr id="38" name="Rounded Rectangle 18">
            <a:extLst>
              <a:ext uri="{FF2B5EF4-FFF2-40B4-BE49-F238E27FC236}">
                <a16:creationId xmlns:a16="http://schemas.microsoft.com/office/drawing/2014/main" id="{65718757-C735-64DB-7D2B-D149D4066606}"/>
              </a:ext>
            </a:extLst>
          </p:cNvPr>
          <p:cNvSpPr/>
          <p:nvPr/>
        </p:nvSpPr>
        <p:spPr>
          <a:xfrm>
            <a:off x="731520" y="3218688"/>
            <a:ext cx="10698480" cy="768096"/>
          </a:xfrm>
          <a:prstGeom prst="roundRect">
            <a:avLst/>
          </a:prstGeom>
          <a:solidFill>
            <a:srgbClr val="F7F9F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a:extLst>
              <a:ext uri="{FF2B5EF4-FFF2-40B4-BE49-F238E27FC236}">
                <a16:creationId xmlns:a16="http://schemas.microsoft.com/office/drawing/2014/main" id="{9D8CD542-4BBE-DDB3-474A-7EE966586D5D}"/>
              </a:ext>
            </a:extLst>
          </p:cNvPr>
          <p:cNvSpPr/>
          <p:nvPr/>
        </p:nvSpPr>
        <p:spPr>
          <a:xfrm>
            <a:off x="731520" y="3218688"/>
            <a:ext cx="73152" cy="768096"/>
          </a:xfrm>
          <a:prstGeom prst="rect">
            <a:avLst/>
          </a:prstGeom>
          <a:solidFill>
            <a:srgbClr val="DD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2794071E-096E-AE7C-06FF-1AD9D30EFEE3}"/>
              </a:ext>
            </a:extLst>
          </p:cNvPr>
          <p:cNvSpPr txBox="1"/>
          <p:nvPr/>
        </p:nvSpPr>
        <p:spPr>
          <a:xfrm>
            <a:off x="896112" y="3310128"/>
            <a:ext cx="10442448" cy="329184"/>
          </a:xfrm>
          <a:prstGeom prst="rect">
            <a:avLst/>
          </a:prstGeom>
          <a:noFill/>
        </p:spPr>
        <p:txBody>
          <a:bodyPr wrap="square" lIns="73152" tIns="73152" rIns="73152" bIns="73152" anchor="t">
            <a:spAutoFit/>
          </a:bodyPr>
          <a:lstStyle/>
          <a:p>
            <a:pPr algn="l">
              <a:spcAft>
                <a:spcPts val="400"/>
              </a:spcAft>
            </a:pPr>
            <a:r>
              <a:rPr sz="1500" b="1" i="0">
                <a:solidFill>
                  <a:srgbClr val="18304E"/>
                </a:solidFill>
                <a:latin typeface="Aptos"/>
              </a:rPr>
              <a:t>Shipment monitoring</a:t>
            </a:r>
          </a:p>
        </p:txBody>
      </p:sp>
      <p:sp>
        <p:nvSpPr>
          <p:cNvPr id="41" name="TextBox 40">
            <a:extLst>
              <a:ext uri="{FF2B5EF4-FFF2-40B4-BE49-F238E27FC236}">
                <a16:creationId xmlns:a16="http://schemas.microsoft.com/office/drawing/2014/main" id="{BCA20CD3-3B40-12E1-03D1-6D1DEA136810}"/>
              </a:ext>
            </a:extLst>
          </p:cNvPr>
          <p:cNvSpPr txBox="1"/>
          <p:nvPr/>
        </p:nvSpPr>
        <p:spPr>
          <a:xfrm>
            <a:off x="896112" y="3675887"/>
            <a:ext cx="10424159" cy="237744"/>
          </a:xfrm>
          <a:prstGeom prst="rect">
            <a:avLst/>
          </a:prstGeom>
          <a:noFill/>
        </p:spPr>
        <p:txBody>
          <a:bodyPr wrap="square" lIns="73152" tIns="73152" rIns="73152" bIns="73152" anchor="t">
            <a:spAutoFit/>
          </a:bodyPr>
          <a:lstStyle/>
          <a:p>
            <a:pPr algn="l">
              <a:spcAft>
                <a:spcPts val="400"/>
              </a:spcAft>
            </a:pPr>
            <a:r>
              <a:rPr sz="1200" b="0" i="0">
                <a:solidFill>
                  <a:srgbClr val="2A333F"/>
                </a:solidFill>
                <a:latin typeface="Aptos"/>
              </a:rPr>
              <a:t>Track status and transit duration by priority, warehouse, supplier, and date to identify patterns requiring follow-up.</a:t>
            </a:r>
          </a:p>
        </p:txBody>
      </p:sp>
      <p:sp>
        <p:nvSpPr>
          <p:cNvPr id="42" name="Rounded Rectangle 22">
            <a:extLst>
              <a:ext uri="{FF2B5EF4-FFF2-40B4-BE49-F238E27FC236}">
                <a16:creationId xmlns:a16="http://schemas.microsoft.com/office/drawing/2014/main" id="{F8A9BB71-49A8-80C9-1EDB-20E72510260F}"/>
              </a:ext>
            </a:extLst>
          </p:cNvPr>
          <p:cNvSpPr/>
          <p:nvPr/>
        </p:nvSpPr>
        <p:spPr>
          <a:xfrm>
            <a:off x="731520" y="4151376"/>
            <a:ext cx="10698480" cy="768096"/>
          </a:xfrm>
          <a:prstGeom prst="roundRect">
            <a:avLst/>
          </a:prstGeom>
          <a:solidFill>
            <a:srgbClr val="F7F9F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a:extLst>
              <a:ext uri="{FF2B5EF4-FFF2-40B4-BE49-F238E27FC236}">
                <a16:creationId xmlns:a16="http://schemas.microsoft.com/office/drawing/2014/main" id="{304EEDC3-77F4-1C11-CA49-66422BDCE53B}"/>
              </a:ext>
            </a:extLst>
          </p:cNvPr>
          <p:cNvSpPr/>
          <p:nvPr/>
        </p:nvSpPr>
        <p:spPr>
          <a:xfrm>
            <a:off x="731520" y="4151376"/>
            <a:ext cx="73152" cy="768096"/>
          </a:xfrm>
          <a:prstGeom prst="rect">
            <a:avLst/>
          </a:prstGeom>
          <a:solidFill>
            <a:srgbClr val="3180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D614AA4F-7CE7-443B-4029-50D85B00F4FA}"/>
              </a:ext>
            </a:extLst>
          </p:cNvPr>
          <p:cNvSpPr txBox="1"/>
          <p:nvPr/>
        </p:nvSpPr>
        <p:spPr>
          <a:xfrm>
            <a:off x="896112" y="4242816"/>
            <a:ext cx="10442448" cy="329184"/>
          </a:xfrm>
          <a:prstGeom prst="rect">
            <a:avLst/>
          </a:prstGeom>
          <a:noFill/>
        </p:spPr>
        <p:txBody>
          <a:bodyPr wrap="square" lIns="73152" tIns="73152" rIns="73152" bIns="73152" anchor="t">
            <a:spAutoFit/>
          </a:bodyPr>
          <a:lstStyle/>
          <a:p>
            <a:pPr algn="l">
              <a:spcAft>
                <a:spcPts val="400"/>
              </a:spcAft>
            </a:pPr>
            <a:r>
              <a:rPr sz="1500" b="1" i="0">
                <a:solidFill>
                  <a:srgbClr val="18304E"/>
                </a:solidFill>
                <a:latin typeface="Aptos"/>
              </a:rPr>
              <a:t>Resource utilization</a:t>
            </a:r>
          </a:p>
        </p:txBody>
      </p:sp>
      <p:sp>
        <p:nvSpPr>
          <p:cNvPr id="45" name="TextBox 44">
            <a:extLst>
              <a:ext uri="{FF2B5EF4-FFF2-40B4-BE49-F238E27FC236}">
                <a16:creationId xmlns:a16="http://schemas.microsoft.com/office/drawing/2014/main" id="{4E3EA3FE-AB22-B58A-FDD0-C943457F1CAC}"/>
              </a:ext>
            </a:extLst>
          </p:cNvPr>
          <p:cNvSpPr txBox="1"/>
          <p:nvPr/>
        </p:nvSpPr>
        <p:spPr>
          <a:xfrm>
            <a:off x="896112" y="4608576"/>
            <a:ext cx="10424159" cy="237744"/>
          </a:xfrm>
          <a:prstGeom prst="rect">
            <a:avLst/>
          </a:prstGeom>
          <a:noFill/>
        </p:spPr>
        <p:txBody>
          <a:bodyPr wrap="square" lIns="73152" tIns="73152" rIns="73152" bIns="73152" anchor="t">
            <a:spAutoFit/>
          </a:bodyPr>
          <a:lstStyle/>
          <a:p>
            <a:pPr algn="l">
              <a:spcAft>
                <a:spcPts val="400"/>
              </a:spcAft>
            </a:pPr>
            <a:r>
              <a:rPr sz="1200" b="0" i="0">
                <a:solidFill>
                  <a:srgbClr val="2A333F"/>
                </a:solidFill>
                <a:latin typeface="Aptos"/>
              </a:rPr>
              <a:t>Review staff workload and vehicle usage together with route distance and shipment outcomes.</a:t>
            </a:r>
          </a:p>
        </p:txBody>
      </p:sp>
      <p:sp>
        <p:nvSpPr>
          <p:cNvPr id="46" name="Rounded Rectangle 26">
            <a:extLst>
              <a:ext uri="{FF2B5EF4-FFF2-40B4-BE49-F238E27FC236}">
                <a16:creationId xmlns:a16="http://schemas.microsoft.com/office/drawing/2014/main" id="{DA254550-8AE6-FBC5-CAAF-8414C696905F}"/>
              </a:ext>
            </a:extLst>
          </p:cNvPr>
          <p:cNvSpPr/>
          <p:nvPr/>
        </p:nvSpPr>
        <p:spPr>
          <a:xfrm>
            <a:off x="731520" y="5084064"/>
            <a:ext cx="10698480" cy="768096"/>
          </a:xfrm>
          <a:prstGeom prst="roundRect">
            <a:avLst/>
          </a:prstGeom>
          <a:solidFill>
            <a:srgbClr val="F7F9F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a:extLst>
              <a:ext uri="{FF2B5EF4-FFF2-40B4-BE49-F238E27FC236}">
                <a16:creationId xmlns:a16="http://schemas.microsoft.com/office/drawing/2014/main" id="{80F495F6-3791-0C90-ADC8-8D239AE55E82}"/>
              </a:ext>
            </a:extLst>
          </p:cNvPr>
          <p:cNvSpPr/>
          <p:nvPr/>
        </p:nvSpPr>
        <p:spPr>
          <a:xfrm>
            <a:off x="731520" y="5084064"/>
            <a:ext cx="73152" cy="768096"/>
          </a:xfrm>
          <a:prstGeom prst="rect">
            <a:avLst/>
          </a:prstGeom>
          <a:solidFill>
            <a:srgbClr val="2367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5E4FB739-EF18-F9B0-56EF-5ED84656E4FF}"/>
              </a:ext>
            </a:extLst>
          </p:cNvPr>
          <p:cNvSpPr txBox="1"/>
          <p:nvPr/>
        </p:nvSpPr>
        <p:spPr>
          <a:xfrm>
            <a:off x="896112" y="5175504"/>
            <a:ext cx="10442448" cy="329184"/>
          </a:xfrm>
          <a:prstGeom prst="rect">
            <a:avLst/>
          </a:prstGeom>
          <a:noFill/>
        </p:spPr>
        <p:txBody>
          <a:bodyPr wrap="square" lIns="73152" tIns="73152" rIns="73152" bIns="73152" anchor="t">
            <a:spAutoFit/>
          </a:bodyPr>
          <a:lstStyle/>
          <a:p>
            <a:pPr algn="l">
              <a:spcAft>
                <a:spcPts val="400"/>
              </a:spcAft>
            </a:pPr>
            <a:r>
              <a:rPr sz="1500" b="1" i="0">
                <a:solidFill>
                  <a:srgbClr val="18304E"/>
                </a:solidFill>
                <a:latin typeface="Aptos"/>
              </a:rPr>
              <a:t>Repeated attempts</a:t>
            </a:r>
          </a:p>
        </p:txBody>
      </p:sp>
      <p:sp>
        <p:nvSpPr>
          <p:cNvPr id="49" name="TextBox 48">
            <a:extLst>
              <a:ext uri="{FF2B5EF4-FFF2-40B4-BE49-F238E27FC236}">
                <a16:creationId xmlns:a16="http://schemas.microsoft.com/office/drawing/2014/main" id="{0E72D2E6-3FCF-4233-2FD2-834E70DE9857}"/>
              </a:ext>
            </a:extLst>
          </p:cNvPr>
          <p:cNvSpPr txBox="1"/>
          <p:nvPr/>
        </p:nvSpPr>
        <p:spPr>
          <a:xfrm>
            <a:off x="896112" y="5541264"/>
            <a:ext cx="10424159" cy="237744"/>
          </a:xfrm>
          <a:prstGeom prst="rect">
            <a:avLst/>
          </a:prstGeom>
          <a:noFill/>
        </p:spPr>
        <p:txBody>
          <a:bodyPr wrap="square" lIns="73152" tIns="73152" rIns="73152" bIns="73152" anchor="t">
            <a:spAutoFit/>
          </a:bodyPr>
          <a:lstStyle/>
          <a:p>
            <a:pPr algn="l">
              <a:spcAft>
                <a:spcPts val="400"/>
              </a:spcAft>
            </a:pPr>
            <a:r>
              <a:rPr sz="1200" b="0" i="0">
                <a:solidFill>
                  <a:srgbClr val="2A333F"/>
                </a:solidFill>
                <a:latin typeface="Aptos"/>
              </a:rPr>
              <a:t>Inspect repeated-attempt records and statuses to understand whether issues relate to delivery, damage, or process delays.</a:t>
            </a:r>
          </a:p>
        </p:txBody>
      </p:sp>
      <p:sp>
        <p:nvSpPr>
          <p:cNvPr id="52" name="TextBox 51">
            <a:extLst>
              <a:ext uri="{FF2B5EF4-FFF2-40B4-BE49-F238E27FC236}">
                <a16:creationId xmlns:a16="http://schemas.microsoft.com/office/drawing/2014/main" id="{DB6BB492-1BEB-9389-40EB-821E4FB7F869}"/>
              </a:ext>
            </a:extLst>
          </p:cNvPr>
          <p:cNvSpPr txBox="1"/>
          <p:nvPr/>
        </p:nvSpPr>
        <p:spPr>
          <a:xfrm>
            <a:off x="731520" y="6395668"/>
            <a:ext cx="10972800" cy="215444"/>
          </a:xfrm>
          <a:prstGeom prst="rect">
            <a:avLst/>
          </a:prstGeom>
          <a:noFill/>
        </p:spPr>
        <p:txBody>
          <a:bodyPr wrap="square" anchor="ctr">
            <a:spAutoFit/>
          </a:bodyPr>
          <a:lstStyle/>
          <a:p>
            <a:pPr>
              <a:defRPr sz="800" b="0">
                <a:solidFill>
                  <a:srgbClr val="5F6C78"/>
                </a:solidFill>
                <a:latin typeface="Aptos"/>
              </a:defRPr>
            </a:pPr>
            <a:r>
              <a:rPr dirty="0"/>
              <a:t>C. Divya Sri  |  Retail Supply Chain Analytics  |  </a:t>
            </a:r>
            <a:r>
              <a:rPr lang="en-US" dirty="0"/>
              <a:t>16</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a:p>
        </p:txBody>
      </p:sp>
      <p:sp>
        <p:nvSpPr>
          <p:cNvPr id="7" name="Rectangle 6"/>
          <p:cNvSpPr/>
          <p:nvPr/>
        </p:nvSpPr>
        <p:spPr>
          <a:xfrm>
            <a:off x="0" y="0"/>
            <a:ext cx="12192000"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343567"/>
            <a:ext cx="11155680" cy="492443"/>
          </a:xfrm>
          <a:prstGeom prst="rect">
            <a:avLst/>
          </a:prstGeom>
          <a:noFill/>
        </p:spPr>
        <p:txBody>
          <a:bodyPr wrap="square" anchor="ctr">
            <a:spAutoFit/>
          </a:bodyPr>
          <a:lstStyle/>
          <a:p>
            <a:pPr>
              <a:defRPr sz="2600" b="1">
                <a:solidFill>
                  <a:srgbClr val="193152"/>
                </a:solidFill>
                <a:latin typeface="Aptos"/>
              </a:defRPr>
            </a:pPr>
            <a:r>
              <a:rPr lang="en-US" dirty="0"/>
              <a:t>    </a:t>
            </a:r>
            <a:r>
              <a:rPr dirty="0"/>
              <a:t>Conclusion</a:t>
            </a:r>
          </a:p>
        </p:txBody>
      </p:sp>
      <p:sp>
        <p:nvSpPr>
          <p:cNvPr id="11" name="TextBox 10"/>
          <p:cNvSpPr txBox="1"/>
          <p:nvPr/>
        </p:nvSpPr>
        <p:spPr>
          <a:xfrm>
            <a:off x="594360" y="6514433"/>
            <a:ext cx="10972800" cy="215444"/>
          </a:xfrm>
          <a:prstGeom prst="rect">
            <a:avLst/>
          </a:prstGeom>
          <a:noFill/>
        </p:spPr>
        <p:txBody>
          <a:bodyPr wrap="square" anchor="ctr">
            <a:spAutoFit/>
          </a:bodyPr>
          <a:lstStyle/>
          <a:p>
            <a:pPr>
              <a:defRPr sz="800" b="0">
                <a:solidFill>
                  <a:srgbClr val="5F6C78"/>
                </a:solidFill>
                <a:latin typeface="Aptos"/>
              </a:defRPr>
            </a:pPr>
            <a:r>
              <a:rPr dirty="0"/>
              <a:t>C. Divya Sri  |  Retail Supply Chain Analytics  |  </a:t>
            </a:r>
            <a:r>
              <a:rPr lang="en-US" dirty="0"/>
              <a:t>17</a:t>
            </a:r>
            <a:endParaRPr dirty="0"/>
          </a:p>
        </p:txBody>
      </p:sp>
      <p:sp>
        <p:nvSpPr>
          <p:cNvPr id="12" name="TextBox 11"/>
          <p:cNvSpPr txBox="1"/>
          <p:nvPr/>
        </p:nvSpPr>
        <p:spPr>
          <a:xfrm>
            <a:off x="777240" y="1417320"/>
            <a:ext cx="10561320" cy="1920240"/>
          </a:xfrm>
          <a:prstGeom prst="rect">
            <a:avLst/>
          </a:prstGeom>
          <a:solidFill>
            <a:srgbClr val="F7F9FB"/>
          </a:solidFill>
          <a:ln>
            <a:noFill/>
          </a:ln>
        </p:spPr>
        <p:txBody>
          <a:bodyPr wrap="square" lIns="109728" tIns="109728" rIns="109728" bIns="109728" anchor="t">
            <a:spAutoFit/>
          </a:bodyPr>
          <a:lstStyle/>
          <a:p>
            <a:pPr>
              <a:spcAft>
                <a:spcPts val="500"/>
              </a:spcAft>
              <a:defRPr sz="1900" b="0">
                <a:solidFill>
                  <a:srgbClr val="2D3741"/>
                </a:solidFill>
                <a:latin typeface="Aptos"/>
              </a:defRPr>
            </a:pPr>
            <a:r>
              <a:t>This project demonstrates how MySQL can organize and analyze related retail supply-chain data across six tables.</a:t>
            </a:r>
          </a:p>
          <a:p>
            <a:pPr>
              <a:spcAft>
                <a:spcPts val="500"/>
              </a:spcAft>
              <a:defRPr sz="1900" b="0">
                <a:solidFill>
                  <a:srgbClr val="2D3741"/>
                </a:solidFill>
                <a:latin typeface="Aptos"/>
              </a:defRPr>
            </a:pPr>
            <a:endParaRPr/>
          </a:p>
          <a:p>
            <a:pPr>
              <a:spcAft>
                <a:spcPts val="500"/>
              </a:spcAft>
              <a:defRPr sz="1900" b="0">
                <a:solidFill>
                  <a:srgbClr val="2D3741"/>
                </a:solidFill>
                <a:latin typeface="Aptos"/>
              </a:defRPr>
            </a:pPr>
            <a:r>
              <a:t>Using validation checks, joins, grouping, sorting, and aggregate functions, the analysis summarizes purchasing activity and shipment outcomes and highlights areas for further review.</a:t>
            </a:r>
          </a:p>
        </p:txBody>
      </p:sp>
      <p:sp>
        <p:nvSpPr>
          <p:cNvPr id="13" name="Rounded Rectangle 12"/>
          <p:cNvSpPr/>
          <p:nvPr/>
        </p:nvSpPr>
        <p:spPr>
          <a:xfrm>
            <a:off x="777240" y="3749039"/>
            <a:ext cx="3383280" cy="114300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7240" y="3749039"/>
            <a:ext cx="73152" cy="114300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855536"/>
            <a:ext cx="3127248" cy="347472"/>
          </a:xfrm>
          <a:prstGeom prst="rect">
            <a:avLst/>
          </a:prstGeom>
          <a:noFill/>
        </p:spPr>
        <p:txBody>
          <a:bodyPr wrap="square" anchor="ctr">
            <a:spAutoFit/>
          </a:bodyPr>
          <a:lstStyle/>
          <a:p>
            <a:pPr>
              <a:defRPr sz="1600" b="1">
                <a:solidFill>
                  <a:srgbClr val="193152"/>
                </a:solidFill>
                <a:latin typeface="Aptos"/>
              </a:defRPr>
            </a:pPr>
            <a:r>
              <a:rPr dirty="0"/>
              <a:t>Database skills</a:t>
            </a:r>
          </a:p>
        </p:txBody>
      </p:sp>
      <p:sp>
        <p:nvSpPr>
          <p:cNvPr id="16" name="TextBox 15"/>
          <p:cNvSpPr txBox="1"/>
          <p:nvPr/>
        </p:nvSpPr>
        <p:spPr>
          <a:xfrm>
            <a:off x="941832" y="4224527"/>
            <a:ext cx="3108960" cy="594360"/>
          </a:xfrm>
          <a:prstGeom prst="rect">
            <a:avLst/>
          </a:prstGeom>
          <a:noFill/>
        </p:spPr>
        <p:txBody>
          <a:bodyPr wrap="square" lIns="18288" tIns="18288" rIns="27432" bIns="18288">
            <a:spAutoFit/>
          </a:bodyPr>
          <a:lstStyle/>
          <a:p>
            <a:pPr>
              <a:spcAft>
                <a:spcPts val="400"/>
              </a:spcAft>
              <a:defRPr sz="1400">
                <a:solidFill>
                  <a:srgbClr val="2D3741"/>
                </a:solidFill>
                <a:latin typeface="Aptos"/>
              </a:defRPr>
            </a:pPr>
            <a:r>
              <a:t>Keys, relationships, data validation</a:t>
            </a:r>
          </a:p>
        </p:txBody>
      </p:sp>
      <p:sp>
        <p:nvSpPr>
          <p:cNvPr id="17" name="Rounded Rectangle 16"/>
          <p:cNvSpPr/>
          <p:nvPr/>
        </p:nvSpPr>
        <p:spPr>
          <a:xfrm>
            <a:off x="4389120" y="3749039"/>
            <a:ext cx="3383280" cy="114300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89120" y="3749039"/>
            <a:ext cx="73152" cy="1143000"/>
          </a:xfrm>
          <a:prstGeom prst="rect">
            <a:avLst/>
          </a:prstGeom>
          <a:solidFill>
            <a:srgbClr val="266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94276" y="3840479"/>
            <a:ext cx="3127248" cy="347472"/>
          </a:xfrm>
          <a:prstGeom prst="rect">
            <a:avLst/>
          </a:prstGeom>
          <a:noFill/>
        </p:spPr>
        <p:txBody>
          <a:bodyPr wrap="square" anchor="ctr">
            <a:spAutoFit/>
          </a:bodyPr>
          <a:lstStyle/>
          <a:p>
            <a:pPr>
              <a:defRPr sz="1600" b="1">
                <a:solidFill>
                  <a:srgbClr val="193152"/>
                </a:solidFill>
                <a:latin typeface="Aptos"/>
              </a:defRPr>
            </a:pPr>
            <a:r>
              <a:rPr dirty="0"/>
              <a:t>SQL skills</a:t>
            </a:r>
          </a:p>
        </p:txBody>
      </p:sp>
      <p:sp>
        <p:nvSpPr>
          <p:cNvPr id="20" name="TextBox 19"/>
          <p:cNvSpPr txBox="1"/>
          <p:nvPr/>
        </p:nvSpPr>
        <p:spPr>
          <a:xfrm>
            <a:off x="4553712" y="4224527"/>
            <a:ext cx="3108960" cy="594360"/>
          </a:xfrm>
          <a:prstGeom prst="rect">
            <a:avLst/>
          </a:prstGeom>
          <a:noFill/>
        </p:spPr>
        <p:txBody>
          <a:bodyPr wrap="square" lIns="18288" tIns="18288" rIns="27432" bIns="18288">
            <a:spAutoFit/>
          </a:bodyPr>
          <a:lstStyle/>
          <a:p>
            <a:pPr>
              <a:spcAft>
                <a:spcPts val="400"/>
              </a:spcAft>
              <a:defRPr sz="1400">
                <a:solidFill>
                  <a:srgbClr val="2D3741"/>
                </a:solidFill>
                <a:latin typeface="Aptos"/>
              </a:defRPr>
            </a:pPr>
            <a:r>
              <a:t>COUNT, SUM, AVG, JOIN, GROUP BY</a:t>
            </a:r>
          </a:p>
        </p:txBody>
      </p:sp>
      <p:sp>
        <p:nvSpPr>
          <p:cNvPr id="21" name="Rounded Rectangle 20"/>
          <p:cNvSpPr/>
          <p:nvPr/>
        </p:nvSpPr>
        <p:spPr>
          <a:xfrm>
            <a:off x="8001000" y="3749039"/>
            <a:ext cx="3383280" cy="1143000"/>
          </a:xfrm>
          <a:prstGeom prst="roundRect">
            <a:avLst/>
          </a:prstGeom>
          <a:solidFill>
            <a:srgbClr val="F7F9FB"/>
          </a:solidFill>
          <a:ln>
            <a:solidFill>
              <a:srgbClr val="EE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01000" y="3749039"/>
            <a:ext cx="73152" cy="1143000"/>
          </a:xfrm>
          <a:prstGeom prst="rect">
            <a:avLst/>
          </a:prstGeom>
          <a:solidFill>
            <a:srgbClr val="E187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74152" y="3855437"/>
            <a:ext cx="3127248" cy="347472"/>
          </a:xfrm>
          <a:prstGeom prst="rect">
            <a:avLst/>
          </a:prstGeom>
          <a:noFill/>
        </p:spPr>
        <p:txBody>
          <a:bodyPr wrap="square" anchor="ctr">
            <a:spAutoFit/>
          </a:bodyPr>
          <a:lstStyle/>
          <a:p>
            <a:pPr>
              <a:defRPr sz="1600" b="1">
                <a:solidFill>
                  <a:srgbClr val="193152"/>
                </a:solidFill>
                <a:latin typeface="Aptos"/>
              </a:defRPr>
            </a:pPr>
            <a:r>
              <a:rPr dirty="0"/>
              <a:t>Business thinking</a:t>
            </a:r>
          </a:p>
        </p:txBody>
      </p:sp>
      <p:sp>
        <p:nvSpPr>
          <p:cNvPr id="24" name="TextBox 23"/>
          <p:cNvSpPr txBox="1"/>
          <p:nvPr/>
        </p:nvSpPr>
        <p:spPr>
          <a:xfrm>
            <a:off x="8165592" y="4224527"/>
            <a:ext cx="3108960" cy="594360"/>
          </a:xfrm>
          <a:prstGeom prst="rect">
            <a:avLst/>
          </a:prstGeom>
          <a:noFill/>
        </p:spPr>
        <p:txBody>
          <a:bodyPr wrap="square" lIns="18288" tIns="18288" rIns="27432" bIns="18288">
            <a:spAutoFit/>
          </a:bodyPr>
          <a:lstStyle/>
          <a:p>
            <a:pPr>
              <a:spcAft>
                <a:spcPts val="400"/>
              </a:spcAft>
              <a:defRPr sz="1400">
                <a:solidFill>
                  <a:srgbClr val="2D3741"/>
                </a:solidFill>
                <a:latin typeface="Aptos"/>
              </a:defRPr>
            </a:pPr>
            <a:r>
              <a:t>Turn query outputs into review priorities</a:t>
            </a:r>
          </a:p>
        </p:txBody>
      </p:sp>
      <p:sp>
        <p:nvSpPr>
          <p:cNvPr id="25" name="TextBox 24"/>
          <p:cNvSpPr txBox="1"/>
          <p:nvPr/>
        </p:nvSpPr>
        <p:spPr>
          <a:xfrm>
            <a:off x="868680" y="5303520"/>
            <a:ext cx="10241280" cy="502920"/>
          </a:xfrm>
          <a:prstGeom prst="rect">
            <a:avLst/>
          </a:prstGeom>
          <a:noFill/>
          <a:ln>
            <a:noFill/>
          </a:ln>
        </p:spPr>
        <p:txBody>
          <a:bodyPr wrap="square" lIns="109728" tIns="109728" rIns="109728" bIns="109728" anchor="t">
            <a:spAutoFit/>
          </a:bodyPr>
          <a:lstStyle/>
          <a:p>
            <a:pPr>
              <a:spcAft>
                <a:spcPts val="500"/>
              </a:spcAft>
              <a:defRPr sz="1300" b="0">
                <a:solidFill>
                  <a:srgbClr val="5F6C78"/>
                </a:solidFill>
                <a:latin typeface="Aptos"/>
              </a:defRPr>
            </a:pPr>
            <a:r>
              <a:t>Next steps: confirm findings in MySQL, add screenshots of result grids, and rehearse the presentation.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599" y="2997200"/>
            <a:ext cx="4222135"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a:p>
            <a:pPr algn="ctr">
              <a:defRPr sz="1700">
                <a:solidFill>
                  <a:srgbClr val="008991"/>
                </a:solidFill>
                <a:latin typeface="Aptos"/>
              </a:defRPr>
            </a:pPr>
            <a:r>
              <a:rPr dirty="0"/>
              <a:t>C. Divya Sri | Retail Supply Chain Analytics</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350</TotalTime>
  <Words>1566</Words>
  <Application>Microsoft Office PowerPoint</Application>
  <PresentationFormat>Widescreen</PresentationFormat>
  <Paragraphs>220</Paragraphs>
  <Slides>18</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Times New Roman</vt:lpstr>
      <vt:lpstr>Arial</vt:lpstr>
      <vt:lpstr>Calibri</vt:lpstr>
      <vt:lpstr>Lato Black</vt:lpstr>
      <vt:lpstr>Libre Baskerville</vt:lpstr>
      <vt:lpstr>Aptos</vt:lpstr>
      <vt:lpstr>Office Theme</vt:lpstr>
      <vt:lpstr>PowerPoint Presentation</vt:lpstr>
      <vt:lpstr>PowerPoint Presentation</vt:lpstr>
      <vt:lpstr>Table of 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Supply Chain Analytics Using MySQL</dc:title>
  <dc:subject>Individual SQL project presentation</dc:subject>
  <dc:creator>C. Divya Sri</dc:creator>
  <cp:keywords>MySQL, Retail, Supply Chain, SQL Analytics</cp:keywords>
  <cp:lastModifiedBy>c. divyasri</cp:lastModifiedBy>
  <cp:revision>1</cp:revision>
  <dcterms:created xsi:type="dcterms:W3CDTF">2021-02-16T05:19:01Z</dcterms:created>
  <dcterms:modified xsi:type="dcterms:W3CDTF">2026-10-28T10:26:34Z</dcterms:modified>
</cp:coreProperties>
</file>